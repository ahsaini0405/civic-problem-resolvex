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49" autoAdjust="0"/>
  </p:normalViewPr>
  <p:slideViewPr>
    <p:cSldViewPr snapToGrid="0" snapToObjects="1">
      <p:cViewPr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975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 — TITLE SLIDE</a:t>
            </a:r>
          </a:p>
          <a:p>
            <a:endParaRPr dirty="0"/>
          </a:p>
          <a:p>
            <a:r>
              <a:rPr dirty="0"/>
              <a:t>Project Name: </a:t>
            </a:r>
            <a:r>
              <a:rPr dirty="0" err="1"/>
              <a:t>Resolvex</a:t>
            </a:r>
            <a:r>
              <a:rPr dirty="0"/>
              <a:t> – Civic Problem Management System</a:t>
            </a:r>
          </a:p>
          <a:p>
            <a:endParaRPr dirty="0"/>
          </a:p>
          <a:p>
            <a:r>
              <a:rPr dirty="0"/>
              <a:t>What to say:</a:t>
            </a:r>
          </a:p>
          <a:p>
            <a:r>
              <a:rPr dirty="0"/>
              <a:t>Good morning/afternoon everyone. Today I am going to present my project called </a:t>
            </a:r>
            <a:r>
              <a:rPr dirty="0" err="1"/>
              <a:t>Resolvex</a:t>
            </a:r>
            <a:r>
              <a:rPr dirty="0"/>
              <a:t>. </a:t>
            </a:r>
          </a:p>
          <a:p>
            <a:r>
              <a:rPr dirty="0" err="1"/>
              <a:t>Resolvex</a:t>
            </a:r>
            <a:r>
              <a:rPr dirty="0"/>
              <a:t> is a web application that helps citizens report civic problems like broken roads, </a:t>
            </a:r>
          </a:p>
          <a:p>
            <a:r>
              <a:rPr dirty="0"/>
              <a:t>street lights not working, sewage overflow, etc. The system uses Artificial Intelligence (AI) </a:t>
            </a:r>
          </a:p>
          <a:p>
            <a:r>
              <a:rPr dirty="0"/>
              <a:t>to automatically understand the type of problem and send it to the right government department.</a:t>
            </a:r>
          </a:p>
          <a:p>
            <a:endParaRPr dirty="0"/>
          </a:p>
          <a:p>
            <a:r>
              <a:rPr dirty="0"/>
              <a:t>Key points to mention:</a:t>
            </a:r>
          </a:p>
          <a:p>
            <a:r>
              <a:rPr dirty="0"/>
              <a:t>- This is a full-stack web application (both frontend and backend are built)</a:t>
            </a:r>
          </a:p>
          <a:p>
            <a:r>
              <a:rPr dirty="0"/>
              <a:t>- It uses modern technologies: React, Node.js, MongoDB</a:t>
            </a:r>
          </a:p>
          <a:p>
            <a:r>
              <a:rPr dirty="0"/>
              <a:t>- It has AI integration using Google Gemini API</a:t>
            </a:r>
          </a:p>
          <a:p>
            <a:r>
              <a:rPr dirty="0"/>
              <a:t>- It has three types of users: Citizen, Admin, and Department</a:t>
            </a:r>
          </a:p>
          <a:p>
            <a:endParaRPr dirty="0"/>
          </a:p>
          <a:p>
            <a:r>
              <a:rPr dirty="0"/>
              <a:t>Technologies used:</a:t>
            </a:r>
          </a:p>
          <a:p>
            <a:r>
              <a:rPr dirty="0"/>
              <a:t>- Frontend: React.js (a JavaScript library for building user interfaces)</a:t>
            </a:r>
          </a:p>
          <a:p>
            <a:r>
              <a:rPr dirty="0"/>
              <a:t>- Backend: Node.js with Express.js (server-side programming)</a:t>
            </a:r>
          </a:p>
          <a:p>
            <a:r>
              <a:rPr dirty="0"/>
              <a:t>- Database: MongoDB (a NoSQL database to store all data)</a:t>
            </a:r>
          </a:p>
          <a:p>
            <a:r>
              <a:rPr dirty="0"/>
              <a:t>- AI: Google Gemini API (used for auto-classifying complaints)</a:t>
            </a:r>
          </a:p>
          <a:p>
            <a:r>
              <a:rPr dirty="0"/>
              <a:t>- Real-time updates: Socket.io (for live notifications)</a:t>
            </a:r>
          </a:p>
          <a:p>
            <a:r>
              <a:rPr dirty="0"/>
              <a:t>- Maps: Leaflet.js (for showing location on map)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 — PROBLEM STATEMENT</a:t>
            </a:r>
          </a:p>
          <a:p>
            <a:endParaRPr dirty="0"/>
          </a:p>
          <a:p>
            <a:r>
              <a:rPr dirty="0"/>
              <a:t>What to say:</a:t>
            </a:r>
          </a:p>
          <a:p>
            <a:r>
              <a:rPr dirty="0"/>
              <a:t>Let me explain why I built this project. These are the four main problems that exist in most Indian cities today.</a:t>
            </a:r>
          </a:p>
          <a:p>
            <a:endParaRPr dirty="0"/>
          </a:p>
          <a:p>
            <a:r>
              <a:rPr dirty="0"/>
              <a:t>Problem 1 – No Easy Way to Report:</a:t>
            </a:r>
          </a:p>
          <a:p>
            <a:r>
              <a:rPr dirty="0"/>
              <a:t>Most citizens have no digital way to report a problem. They have to visit a government office, </a:t>
            </a:r>
          </a:p>
          <a:p>
            <a:r>
              <a:rPr dirty="0"/>
              <a:t>make a phone call, or just hope that someone notices the problem. This is very inconvenient.</a:t>
            </a:r>
          </a:p>
          <a:p>
            <a:endParaRPr dirty="0"/>
          </a:p>
          <a:p>
            <a:r>
              <a:rPr dirty="0"/>
              <a:t>Problem 2 – Manual and Slow Process:</a:t>
            </a:r>
          </a:p>
          <a:p>
            <a:r>
              <a:rPr dirty="0"/>
              <a:t>Even if someone reports a problem, the process is done on paper or through phone. </a:t>
            </a:r>
          </a:p>
          <a:p>
            <a:r>
              <a:rPr dirty="0"/>
              <a:t>There is no tracking. Citizens do not know if their complaint is being worked on or ignored.</a:t>
            </a:r>
          </a:p>
          <a:p>
            <a:endParaRPr dirty="0"/>
          </a:p>
          <a:p>
            <a:r>
              <a:rPr dirty="0"/>
              <a:t>Problem 3 – Wrong Department Assignment:</a:t>
            </a:r>
          </a:p>
          <a:p>
            <a:r>
              <a:rPr dirty="0"/>
              <a:t>A road problem should go to the Roads Department. A water problem should go to Water Supply. </a:t>
            </a:r>
          </a:p>
          <a:p>
            <a:r>
              <a:rPr dirty="0"/>
              <a:t>But without a smart system, complaints often go to the wrong place, causing unnecessary delays.</a:t>
            </a:r>
          </a:p>
          <a:p>
            <a:endParaRPr dirty="0"/>
          </a:p>
          <a:p>
            <a:r>
              <a:rPr dirty="0"/>
              <a:t>Problem 4 – No Data or Accountability:</a:t>
            </a:r>
          </a:p>
          <a:p>
            <a:r>
              <a:rPr dirty="0"/>
              <a:t>Government authorities have no way to see the big picture — which areas need the most attention, </a:t>
            </a:r>
          </a:p>
          <a:p>
            <a:r>
              <a:rPr dirty="0"/>
              <a:t>which departments are fast or slow, how many complaints are resolved on time.</a:t>
            </a:r>
          </a:p>
          <a:p>
            <a:endParaRPr dirty="0"/>
          </a:p>
          <a:p>
            <a:r>
              <a:rPr dirty="0"/>
              <a:t>This is exactly what </a:t>
            </a:r>
            <a:r>
              <a:rPr dirty="0" err="1"/>
              <a:t>Resolvex</a:t>
            </a:r>
            <a:r>
              <a:rPr dirty="0"/>
              <a:t> solves — it is a complete digital solution for civic complaint management.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3 — OBJECTIVES &amp; KEY FEATURES</a:t>
            </a:r>
          </a:p>
          <a:p>
            <a:endParaRPr dirty="0"/>
          </a:p>
          <a:p>
            <a:r>
              <a:rPr dirty="0"/>
              <a:t>What to say:</a:t>
            </a:r>
          </a:p>
          <a:p>
            <a:r>
              <a:rPr dirty="0"/>
              <a:t>The main goal of </a:t>
            </a:r>
            <a:r>
              <a:rPr dirty="0" err="1"/>
              <a:t>Resolvex</a:t>
            </a:r>
            <a:r>
              <a:rPr dirty="0"/>
              <a:t> is to provide a simple, smart, and transparent system for civic complaint management.</a:t>
            </a:r>
          </a:p>
          <a:p>
            <a:endParaRPr dirty="0"/>
          </a:p>
          <a:p>
            <a:r>
              <a:rPr dirty="0"/>
              <a:t>Let me explain each feature:</a:t>
            </a:r>
          </a:p>
          <a:p>
            <a:endParaRPr dirty="0"/>
          </a:p>
          <a:p>
            <a:r>
              <a:rPr dirty="0"/>
              <a:t>1. AI Auto-Classification:</a:t>
            </a:r>
          </a:p>
          <a:p>
            <a:r>
              <a:rPr dirty="0"/>
              <a:t>   When a citizen types a complaint, they can click "Analyze &amp; Auto-Classify". </a:t>
            </a:r>
          </a:p>
          <a:p>
            <a:r>
              <a:rPr dirty="0"/>
              <a:t>   The system sends the text to Google Gemini AI, which reads it and tells us: </a:t>
            </a:r>
          </a:p>
          <a:p>
            <a:r>
              <a:rPr dirty="0"/>
              <a:t>   What category is this? (roads, water, sanitation, etc.) and what priority level? (low, medium, high)</a:t>
            </a:r>
          </a:p>
          <a:p>
            <a:r>
              <a:rPr dirty="0"/>
              <a:t>   This saves time and reduces human error.</a:t>
            </a:r>
          </a:p>
          <a:p>
            <a:r>
              <a:rPr dirty="0"/>
              <a:t>   Library used: Google Generative AI (</a:t>
            </a:r>
            <a:r>
              <a:rPr dirty="0" err="1"/>
              <a:t>npm</a:t>
            </a:r>
            <a:r>
              <a:rPr dirty="0"/>
              <a:t> package: @google/generative-ai)</a:t>
            </a:r>
          </a:p>
          <a:p>
            <a:endParaRPr dirty="0"/>
          </a:p>
          <a:p>
            <a:r>
              <a:rPr dirty="0"/>
              <a:t>2. Location Pinning on Map:</a:t>
            </a:r>
          </a:p>
          <a:p>
            <a:r>
              <a:rPr dirty="0"/>
              <a:t>   The citizen can open a live interactive map and click anywhere to pin the exact location of the problem.</a:t>
            </a:r>
          </a:p>
          <a:p>
            <a:r>
              <a:rPr dirty="0"/>
              <a:t>   This helps the department know exactly where to go.</a:t>
            </a:r>
          </a:p>
          <a:p>
            <a:r>
              <a:rPr dirty="0"/>
              <a:t>   Library used: Leaflet.js + React-Leaflet</a:t>
            </a:r>
          </a:p>
          <a:p>
            <a:endParaRPr dirty="0"/>
          </a:p>
          <a:p>
            <a:r>
              <a:rPr dirty="0"/>
              <a:t>3. Real-Time Notifications:</a:t>
            </a:r>
          </a:p>
          <a:p>
            <a:r>
              <a:rPr dirty="0"/>
              <a:t>   When an admin or department updates the complaint status, the citizen gets a live notification </a:t>
            </a:r>
          </a:p>
          <a:p>
            <a:r>
              <a:rPr dirty="0"/>
              <a:t>   without refreshing the page. This is done using </a:t>
            </a:r>
            <a:r>
              <a:rPr dirty="0" err="1"/>
              <a:t>WebSockets</a:t>
            </a:r>
            <a:r>
              <a:rPr dirty="0"/>
              <a:t>.</a:t>
            </a:r>
          </a:p>
          <a:p>
            <a:r>
              <a:rPr dirty="0"/>
              <a:t>   Library used: Socket.io</a:t>
            </a:r>
          </a:p>
          <a:p>
            <a:endParaRPr dirty="0"/>
          </a:p>
          <a:p>
            <a:r>
              <a:rPr dirty="0"/>
              <a:t>4. Admin Analytics Dashboard:</a:t>
            </a:r>
          </a:p>
          <a:p>
            <a:r>
              <a:rPr dirty="0"/>
              <a:t>   The admin sees a complete overview — total complaints, how many are pending, resolved, </a:t>
            </a:r>
          </a:p>
          <a:p>
            <a:r>
              <a:rPr dirty="0"/>
              <a:t>   how many SLA deadlines were missed, etc. Charts are shown for visual understanding.</a:t>
            </a:r>
          </a:p>
          <a:p>
            <a:r>
              <a:rPr dirty="0"/>
              <a:t>   Library used: Recharts</a:t>
            </a:r>
          </a:p>
          <a:p>
            <a:endParaRPr dirty="0"/>
          </a:p>
          <a:p>
            <a:r>
              <a:rPr dirty="0"/>
              <a:t>5. Department Management:</a:t>
            </a:r>
          </a:p>
          <a:p>
            <a:r>
              <a:rPr dirty="0"/>
              <a:t>   Admin can create new departments (like Roads Dept., Water Dept.) and assign complaints to them.</a:t>
            </a:r>
          </a:p>
          <a:p>
            <a:r>
              <a:rPr dirty="0"/>
              <a:t>   Each department sees only their assigned complaints.</a:t>
            </a:r>
          </a:p>
          <a:p>
            <a:endParaRPr dirty="0"/>
          </a:p>
          <a:p>
            <a:r>
              <a:rPr dirty="0"/>
              <a:t>6. Email Verification:</a:t>
            </a:r>
          </a:p>
          <a:p>
            <a:r>
              <a:rPr dirty="0"/>
              <a:t>   When someone signs up, they get an email with a verification link. </a:t>
            </a:r>
          </a:p>
          <a:p>
            <a:r>
              <a:rPr dirty="0"/>
              <a:t>   Only verified users can log in. This prevents fake accounts.</a:t>
            </a:r>
          </a:p>
          <a:p>
            <a:r>
              <a:rPr dirty="0"/>
              <a:t>   Library used: </a:t>
            </a:r>
            <a:r>
              <a:rPr dirty="0" err="1"/>
              <a:t>Nodemailer</a:t>
            </a:r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— TECHNOLOGY STACK</a:t>
            </a:r>
          </a:p>
          <a:p>
            <a:endParaRPr/>
          </a:p>
          <a:p>
            <a:r>
              <a:t>What to say:</a:t>
            </a:r>
          </a:p>
          <a:p>
            <a:r>
              <a:t>Now let me explain the technologies I used to build Resolvex.</a:t>
            </a:r>
          </a:p>
          <a:p>
            <a:endParaRPr/>
          </a:p>
          <a:p>
            <a:r>
              <a:t>The application has two parts:</a:t>
            </a:r>
          </a:p>
          <a:p>
            <a:endParaRPr/>
          </a:p>
          <a:p>
            <a:r>
              <a:t>FRONTEND (what the user sees in the browser):</a:t>
            </a:r>
          </a:p>
          <a:p>
            <a:r>
              <a:t>- React.js: This is the main JavaScript library used to build the website's user interface. </a:t>
            </a:r>
          </a:p>
          <a:p>
            <a:r>
              <a:t>  It works with "components" — reusable pieces of UI like buttons, forms, cards.</a:t>
            </a:r>
          </a:p>
          <a:p>
            <a:r>
              <a:t>- Vite: This is a modern build tool that makes React development very fast.</a:t>
            </a:r>
          </a:p>
          <a:p>
            <a:r>
              <a:t>- React Router: This manages navigation. When you click "Dashboard" it shows the dashboard </a:t>
            </a:r>
          </a:p>
          <a:p>
            <a:r>
              <a:t>  WITHOUT refreshing the whole page.</a:t>
            </a:r>
          </a:p>
          <a:p>
            <a:r>
              <a:t>- Axios: This sends requests to the backend server. For example, when you log in, </a:t>
            </a:r>
          </a:p>
          <a:p>
            <a:r>
              <a:t>  Axios sends your email and password to the server and gets back a token.</a:t>
            </a:r>
          </a:p>
          <a:p>
            <a:r>
              <a:t>- Socket.io-client: This keeps a live connection with the server. </a:t>
            </a:r>
          </a:p>
          <a:p>
            <a:r>
              <a:t>  So when someone updates your complaint, you get a notification instantly.</a:t>
            </a:r>
          </a:p>
          <a:p>
            <a:r>
              <a:t>- Leaflet.js: This shows a real interactive map (using OpenStreetMap data).</a:t>
            </a:r>
          </a:p>
          <a:p>
            <a:r>
              <a:t>- Recharts: Used in the admin panel to show bar charts and pie charts.</a:t>
            </a:r>
          </a:p>
          <a:p>
            <a:r>
              <a:t>- Framer Motion: Adds smooth animations to make the UI feel premium.</a:t>
            </a:r>
          </a:p>
          <a:p>
            <a:endParaRPr/>
          </a:p>
          <a:p>
            <a:r>
              <a:t>BACKEND (what runs on the server):</a:t>
            </a:r>
          </a:p>
          <a:p>
            <a:r>
              <a:t>- Node.js: JavaScript running on the server — the backbone of the backend.</a:t>
            </a:r>
          </a:p>
          <a:p>
            <a:r>
              <a:t>- Express.js: A framework that makes it easy to create API routes.</a:t>
            </a:r>
          </a:p>
          <a:p>
            <a:r>
              <a:t>  E.g., POST /api/auth/login handles login requests.</a:t>
            </a:r>
          </a:p>
          <a:p>
            <a:r>
              <a:t>- MongoDB: Database. All complaints, users, departments are stored here.</a:t>
            </a:r>
          </a:p>
          <a:p>
            <a:r>
              <a:t>  It stores data in a flexible JSON-like format called BSON.</a:t>
            </a:r>
          </a:p>
          <a:p>
            <a:r>
              <a:t>- Mongoose: Makes working with MongoDB easier by defining schemas (data structure).</a:t>
            </a:r>
          </a:p>
          <a:p>
            <a:r>
              <a:t>- JWT: JSON Web Tokens. After login, the server gives a token. </a:t>
            </a:r>
          </a:p>
          <a:p>
            <a:r>
              <a:t>  The browser sends this token with every request to prove identity.</a:t>
            </a:r>
          </a:p>
          <a:p>
            <a:r>
              <a:t>- Multer + Cloudinary: When a user uploads a photo of the problem, </a:t>
            </a:r>
          </a:p>
          <a:p>
            <a:r>
              <a:t>  Multer handles the file and Cloudinary stores it on the cloud.</a:t>
            </a:r>
          </a:p>
          <a:p>
            <a:r>
              <a:t>- Nodemailer: Sends emails. Used for email verification and password reset.</a:t>
            </a:r>
          </a:p>
          <a:p>
            <a:r>
              <a:t>- node-cron: Runs a background job every hour to check if any complaints have </a:t>
            </a:r>
          </a:p>
          <a:p>
            <a:r>
              <a:t>  missed their SLA (deadline) and marks them as "SLA Breached".</a:t>
            </a:r>
          </a:p>
          <a:p>
            <a:r>
              <a:t>- Google Gemini AI: The AI brain. It reads the complaint text and tells us </a:t>
            </a:r>
          </a:p>
          <a:p>
            <a:r>
              <a:t>  the category, priority, and gives suggestions.</a:t>
            </a:r>
          </a:p>
          <a:p>
            <a:endParaRPr/>
          </a:p>
          <a:p>
            <a:r>
              <a:t>Language used: JavaScript (for both frontend and backend — this is called a full-stack JavaScript application)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5 — SYSTEM ARCHITECTURE</a:t>
            </a:r>
          </a:p>
          <a:p>
            <a:endParaRPr dirty="0"/>
          </a:p>
          <a:p>
            <a:r>
              <a:rPr dirty="0"/>
              <a:t>What to say:</a:t>
            </a:r>
          </a:p>
          <a:p>
            <a:r>
              <a:rPr dirty="0"/>
              <a:t>The </a:t>
            </a:r>
            <a:r>
              <a:rPr dirty="0" err="1"/>
              <a:t>Resolvex</a:t>
            </a:r>
            <a:r>
              <a:rPr dirty="0"/>
              <a:t> system has three main parts working together:</a:t>
            </a:r>
          </a:p>
          <a:p>
            <a:endParaRPr dirty="0"/>
          </a:p>
          <a:p>
            <a:r>
              <a:rPr dirty="0"/>
              <a:t>1. FRONTEND (React + Vite):</a:t>
            </a:r>
          </a:p>
          <a:p>
            <a:r>
              <a:rPr dirty="0"/>
              <a:t>   This is what the user sees in their browser. It is built using React.js.</a:t>
            </a:r>
          </a:p>
          <a:p>
            <a:r>
              <a:rPr dirty="0"/>
              <a:t>   When you open the website, you see the landing page, login page, dashboards, etc.</a:t>
            </a:r>
          </a:p>
          <a:p>
            <a:r>
              <a:rPr dirty="0"/>
              <a:t>   The frontend communicates with the backend by sending API requests (HTTP requests).</a:t>
            </a:r>
          </a:p>
          <a:p>
            <a:r>
              <a:rPr dirty="0"/>
              <a:t>   It runs on port 5173 during development.</a:t>
            </a:r>
          </a:p>
          <a:p>
            <a:endParaRPr dirty="0"/>
          </a:p>
          <a:p>
            <a:r>
              <a:rPr dirty="0"/>
              <a:t>2. BACKEND (Node.js + Express):</a:t>
            </a:r>
          </a:p>
          <a:p>
            <a:r>
              <a:rPr dirty="0"/>
              <a:t>   This is the brain of the application. It is a REST API server.</a:t>
            </a:r>
          </a:p>
          <a:p>
            <a:r>
              <a:rPr dirty="0"/>
              <a:t>   - When a user logs in, the backend checks the username/password and sends back a JWT token.</a:t>
            </a:r>
          </a:p>
          <a:p>
            <a:r>
              <a:rPr dirty="0"/>
              <a:t>   - When a complaint is submitted, the backend saves it to the database.</a:t>
            </a:r>
          </a:p>
          <a:p>
            <a:r>
              <a:rPr dirty="0"/>
              <a:t>   - The backend also communicates with external services like Gemini AI and </a:t>
            </a:r>
            <a:r>
              <a:rPr dirty="0" err="1"/>
              <a:t>Cloudinary</a:t>
            </a:r>
            <a:r>
              <a:rPr dirty="0"/>
              <a:t>.</a:t>
            </a:r>
          </a:p>
          <a:p>
            <a:r>
              <a:rPr dirty="0"/>
              <a:t>   - Socket.io runs here to send real-time notifications.</a:t>
            </a:r>
          </a:p>
          <a:p>
            <a:r>
              <a:rPr dirty="0"/>
              <a:t>   - A </a:t>
            </a:r>
            <a:r>
              <a:rPr dirty="0" err="1"/>
              <a:t>cron</a:t>
            </a:r>
            <a:r>
              <a:rPr dirty="0"/>
              <a:t> job runs every hour to automatically check if any complaint has crossed its SLA deadline.</a:t>
            </a:r>
          </a:p>
          <a:p>
            <a:r>
              <a:rPr dirty="0"/>
              <a:t>   It runs on port 5000 during development.</a:t>
            </a:r>
          </a:p>
          <a:p>
            <a:endParaRPr dirty="0"/>
          </a:p>
          <a:p>
            <a:r>
              <a:rPr dirty="0"/>
              <a:t>3. DATABASE (MongoDB):</a:t>
            </a:r>
          </a:p>
          <a:p>
            <a:r>
              <a:rPr dirty="0"/>
              <a:t>   All data is stored here — user accounts, complaints, departments, notifications.</a:t>
            </a:r>
          </a:p>
          <a:p>
            <a:r>
              <a:rPr dirty="0"/>
              <a:t>   MongoDB is a NoSQL database, meaning data is stored as flexible JSON-like documents.</a:t>
            </a:r>
          </a:p>
          <a:p>
            <a:r>
              <a:rPr dirty="0"/>
              <a:t>   We use MongoDB Atlas (cloud version) so the database is always online.</a:t>
            </a:r>
          </a:p>
          <a:p>
            <a:endParaRPr dirty="0"/>
          </a:p>
          <a:p>
            <a:r>
              <a:rPr dirty="0"/>
              <a:t>External Services:</a:t>
            </a:r>
          </a:p>
          <a:p>
            <a:r>
              <a:rPr dirty="0"/>
              <a:t>- </a:t>
            </a:r>
            <a:r>
              <a:rPr dirty="0" err="1"/>
              <a:t>Cloudinary</a:t>
            </a:r>
            <a:r>
              <a:rPr dirty="0"/>
              <a:t>: Stores uploaded images and videos (like proof photos of road damage)</a:t>
            </a:r>
          </a:p>
          <a:p>
            <a:r>
              <a:rPr dirty="0"/>
              <a:t>- Google Gemini AI: Classifies complaints automatically</a:t>
            </a:r>
          </a:p>
          <a:p>
            <a:r>
              <a:rPr dirty="0"/>
              <a:t>- </a:t>
            </a:r>
            <a:r>
              <a:rPr dirty="0" err="1"/>
              <a:t>Nodemailer</a:t>
            </a:r>
            <a:r>
              <a:rPr dirty="0"/>
              <a:t>: Sends emails for verification and password reset</a:t>
            </a:r>
          </a:p>
          <a:p>
            <a:r>
              <a:rPr dirty="0"/>
              <a:t>- OpenStreetMap: Provides the map tiles for the Leaflet map component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— USER ROLES</a:t>
            </a:r>
          </a:p>
          <a:p>
            <a:endParaRPr/>
          </a:p>
          <a:p>
            <a:r>
              <a:t>What to say:</a:t>
            </a:r>
          </a:p>
          <a:p>
            <a:r>
              <a:t>Resolvex has three types of users. Each has a different level of access and responsibility.</a:t>
            </a:r>
          </a:p>
          <a:p>
            <a:endParaRPr/>
          </a:p>
          <a:p>
            <a:r>
              <a:t>1. CITIZEN (the general public):</a:t>
            </a:r>
          </a:p>
          <a:p>
            <a:r>
              <a:t>   Any person can register as a citizen. After email verification, they can:</a:t>
            </a:r>
          </a:p>
          <a:p>
            <a:r>
              <a:t>   - Report a new complaint (for example: "There is a big pothole on Main Street")</a:t>
            </a:r>
          </a:p>
          <a:p>
            <a:r>
              <a:t>   - Upload photos or videos as proof</a:t>
            </a:r>
          </a:p>
          <a:p>
            <a:r>
              <a:t>   - Use AI to auto-classify the complaint</a:t>
            </a:r>
          </a:p>
          <a:p>
            <a:r>
              <a:t>   - Pin the location on the map</a:t>
            </a:r>
          </a:p>
          <a:p>
            <a:r>
              <a:t>   - Track the status of their complaint in real-time</a:t>
            </a:r>
          </a:p>
          <a:p>
            <a:r>
              <a:t>   - Upvote complaints reported by others (to show priority)</a:t>
            </a:r>
          </a:p>
          <a:p>
            <a:r>
              <a:t>   - Add comments or questions</a:t>
            </a:r>
          </a:p>
          <a:p>
            <a:endParaRPr/>
          </a:p>
          <a:p>
            <a:r>
              <a:t>2. ADMIN (the government administrator):</a:t>
            </a:r>
          </a:p>
          <a:p>
            <a:r>
              <a:t>   The admin manages the entire system. They can:</a:t>
            </a:r>
          </a:p>
          <a:p>
            <a:r>
              <a:t>   - See ALL complaints from all citizens</a:t>
            </a:r>
          </a:p>
          <a:p>
            <a:r>
              <a:t>   - Assign a complaint to the correct department</a:t>
            </a:r>
          </a:p>
          <a:p>
            <a:r>
              <a:t>   - Update status of any complaint</a:t>
            </a:r>
          </a:p>
          <a:p>
            <a:r>
              <a:t>   - Block or unblock user accounts</a:t>
            </a:r>
          </a:p>
          <a:p>
            <a:r>
              <a:t>   - Create new departments (like "Roads Department", "Electricity Board")</a:t>
            </a:r>
          </a:p>
          <a:p>
            <a:r>
              <a:t>   - See analytics charts and SLA breach reports</a:t>
            </a:r>
          </a:p>
          <a:p>
            <a:endParaRPr/>
          </a:p>
          <a:p>
            <a:r>
              <a:t>3. DEPARTMENT (government department staff):</a:t>
            </a:r>
          </a:p>
          <a:p>
            <a:r>
              <a:t>   Each department sees ONLY the complaints assigned to them. They can:</a:t>
            </a:r>
          </a:p>
          <a:p>
            <a:r>
              <a:t>   - Accept or reject a new complaint assignment</a:t>
            </a:r>
          </a:p>
          <a:p>
            <a:r>
              <a:t>   - Update the work progress ("In Progress")</a:t>
            </a:r>
          </a:p>
          <a:p>
            <a:r>
              <a:t>   - Upload proof photos of the work being done</a:t>
            </a:r>
          </a:p>
          <a:p>
            <a:r>
              <a:t>   - Mark a complaint as "Resolved" or "Completed"</a:t>
            </a:r>
          </a:p>
          <a:p>
            <a:r>
              <a:t>   - See how many complaints they resolved and their performance</a:t>
            </a:r>
          </a:p>
          <a:p>
            <a:endParaRPr/>
          </a:p>
          <a:p>
            <a:r>
              <a:t>This role-based system ensures data security — a citizen cannot see admin data, </a:t>
            </a:r>
          </a:p>
          <a:p>
            <a:r>
              <a:t>and a department cannot see another department's work.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— LANDING PAGE</a:t>
            </a:r>
          </a:p>
          <a:p>
            <a:endParaRPr/>
          </a:p>
          <a:p>
            <a:r>
              <a:t>What to say:</a:t>
            </a:r>
          </a:p>
          <a:p>
            <a:r>
              <a:t>This is the landing page — the first screen a user sees when they open Resolvex.</a:t>
            </a:r>
          </a:p>
          <a:p>
            <a:endParaRPr/>
          </a:p>
          <a:p>
            <a:r>
              <a:t>What you can see:</a:t>
            </a:r>
          </a:p>
          <a:p>
            <a:r>
              <a:t>- The heading says: "Civic Issues Resolved Intelligently."</a:t>
            </a:r>
          </a:p>
          <a:p>
            <a:r>
              <a:t>- There is a tagline: "Empowering Citizens, Transforming Cities"</a:t>
            </a:r>
          </a:p>
          <a:p>
            <a:r>
              <a:t>- Two main buttons: "Report an Issue" and "Track Existing Complaint"</a:t>
            </a:r>
          </a:p>
          <a:p>
            <a:r>
              <a:t>- Three feature highlights at the bottom:</a:t>
            </a:r>
          </a:p>
          <a:p>
            <a:r>
              <a:t>  1. AI-Powered Routing — The system automatically sends the complaint to the right department</a:t>
            </a:r>
          </a:p>
          <a:p>
            <a:r>
              <a:t>  2. Precise Geolocation — Citizens pin the exact location on a map</a:t>
            </a:r>
          </a:p>
          <a:p>
            <a:r>
              <a:t>  3. Transparent Tracking — Citizens can track their complaint status in real-time</a:t>
            </a:r>
          </a:p>
          <a:p>
            <a:endParaRPr/>
          </a:p>
          <a:p>
            <a:r>
              <a:t>Design:</a:t>
            </a:r>
          </a:p>
          <a:p>
            <a:r>
              <a:t>- Dark theme with purple accents — looks modern and professional</a:t>
            </a:r>
          </a:p>
          <a:p>
            <a:r>
              <a:t>- Built using React.js components</a:t>
            </a:r>
          </a:p>
          <a:p>
            <a:r>
              <a:t>- The buttons use Framer Motion for smooth hover animations</a:t>
            </a:r>
          </a:p>
          <a:p>
            <a:r>
              <a:t>- Fully responsive (works on mobile and desktop)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— AUTHENTICATION SCREENS</a:t>
            </a:r>
          </a:p>
          <a:p>
            <a:endParaRPr/>
          </a:p>
          <a:p>
            <a:r>
              <a:t>What to say:</a:t>
            </a:r>
          </a:p>
          <a:p>
            <a:r>
              <a:t>These two screens handle user authentication — signing up and logging in.</a:t>
            </a:r>
          </a:p>
          <a:p>
            <a:endParaRPr/>
          </a:p>
          <a:p>
            <a:r>
              <a:t>LEFT — SIGN UP PAGE:</a:t>
            </a:r>
          </a:p>
          <a:p>
            <a:r>
              <a:t>- New users fill in: Full Name, Email Address, Password, Confirm Password</a:t>
            </a:r>
          </a:p>
          <a:p>
            <a:r>
              <a:t>- They click "Create Account"</a:t>
            </a:r>
          </a:p>
          <a:p>
            <a:r>
              <a:t>- After registration, a verification email is sent to their email address</a:t>
            </a:r>
          </a:p>
          <a:p>
            <a:r>
              <a:t>- The account is only activated after clicking the link in that email</a:t>
            </a:r>
          </a:p>
          <a:p>
            <a:r>
              <a:t>- This prevents spam and fake accounts</a:t>
            </a:r>
          </a:p>
          <a:p>
            <a:endParaRPr/>
          </a:p>
          <a:p>
            <a:r>
              <a:t>RIGHT — LOGIN PAGE:</a:t>
            </a:r>
          </a:p>
          <a:p>
            <a:r>
              <a:t>- Existing users enter Email and Password</a:t>
            </a:r>
          </a:p>
          <a:p>
            <a:r>
              <a:t>- They click "Sign In"</a:t>
            </a:r>
          </a:p>
          <a:p>
            <a:r>
              <a:t>- The server checks the credentials and returns a JWT (JSON Web Token)</a:t>
            </a:r>
          </a:p>
          <a:p>
            <a:r>
              <a:t>- This token is saved in the browser's localStorage</a:t>
            </a:r>
          </a:p>
          <a:p>
            <a:r>
              <a:t>- Every future request to the server includes this token to prove identity</a:t>
            </a:r>
          </a:p>
          <a:p>
            <a:endParaRPr/>
          </a:p>
          <a:p>
            <a:r>
              <a:t>Security features:</a:t>
            </a:r>
          </a:p>
          <a:p>
            <a:r>
              <a:t>- Passwords are hashed using bcrypt before storing in the database</a:t>
            </a:r>
          </a:p>
          <a:p>
            <a:r>
              <a:t>  (meaning even if someone reads the database, they cannot see the real password)</a:t>
            </a:r>
          </a:p>
          <a:p>
            <a:r>
              <a:t>- JWT tokens expire after a set time (automatic logout)</a:t>
            </a:r>
          </a:p>
          <a:p>
            <a:r>
              <a:t>- If a token is invalid or expired, the server sends a 401 Unauthorized error</a:t>
            </a:r>
          </a:p>
          <a:p>
            <a:r>
              <a:t>  and the user is redirected to the login page</a:t>
            </a:r>
          </a:p>
          <a:p>
            <a:endParaRPr/>
          </a:p>
          <a:p>
            <a:r>
              <a:t>Library used:</a:t>
            </a:r>
          </a:p>
          <a:p>
            <a:r>
              <a:t>- JWT: jsonwebtoken package on the backend</a:t>
            </a:r>
          </a:p>
          <a:p>
            <a:r>
              <a:t>- Password hashing: bcryptjs package</a:t>
            </a:r>
          </a:p>
          <a:p>
            <a:r>
              <a:t>- Token stored in: localStorage in the browser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— CITIZEN DASHBOARD</a:t>
            </a:r>
          </a:p>
          <a:p>
            <a:endParaRPr/>
          </a:p>
          <a:p>
            <a:r>
              <a:t>What to say:</a:t>
            </a:r>
          </a:p>
          <a:p>
            <a:r>
              <a:t>After logging in as a citizen, this is the dashboard they see.</a:t>
            </a:r>
          </a:p>
          <a:p>
            <a:endParaRPr/>
          </a:p>
          <a:p>
            <a:r>
              <a:t>What you can see on screen:</a:t>
            </a:r>
          </a:p>
          <a:p>
            <a:r>
              <a:t>- A personalized greeting: "Good Evening, Happy 👋"</a:t>
            </a:r>
          </a:p>
          <a:p>
            <a:r>
              <a:t>- Four summary cards at the top:</a:t>
            </a:r>
          </a:p>
          <a:p>
            <a:r>
              <a:t>  • Total Complaints — how many complaints they have submitted total</a:t>
            </a:r>
          </a:p>
          <a:p>
            <a:r>
              <a:t>  • Pending — waiting to be assigned to a department</a:t>
            </a:r>
          </a:p>
          <a:p>
            <a:r>
              <a:t>  • In Progress — department is currently working on it</a:t>
            </a:r>
          </a:p>
          <a:p>
            <a:r>
              <a:t>  • Resolved — problem has been fixed</a:t>
            </a:r>
          </a:p>
          <a:p>
            <a:endParaRPr/>
          </a:p>
          <a:p>
            <a:r>
              <a:t>- "My Recent Complaints" section — shows their latest submitted complaints</a:t>
            </a:r>
          </a:p>
          <a:p>
            <a:r>
              <a:t>  with title, category, priority level, status badge, and submission time</a:t>
            </a:r>
          </a:p>
          <a:p>
            <a:endParaRPr/>
          </a:p>
          <a:p>
            <a:r>
              <a:t>- "Raise New Complaint" button — prominent purple button in the top right corner</a:t>
            </a:r>
          </a:p>
          <a:p>
            <a:r>
              <a:t>  for quick access to submit a new complaint</a:t>
            </a:r>
          </a:p>
          <a:p>
            <a:endParaRPr/>
          </a:p>
          <a:p>
            <a:r>
              <a:t>This dashboard gives the citizen a quick overview of all their civic complaints at a glance.</a:t>
            </a:r>
          </a:p>
          <a:p>
            <a:endParaRPr/>
          </a:p>
          <a:p>
            <a:r>
              <a:t>How it works technically:</a:t>
            </a:r>
          </a:p>
          <a:p>
            <a:r>
              <a:t>- When the citizen logs in, the browser makes a GET request to /api/complaints (with JWT token)</a:t>
            </a:r>
          </a:p>
          <a:p>
            <a:r>
              <a:t>- The server returns only the complaints belonging to that citizen</a:t>
            </a:r>
          </a:p>
          <a:p>
            <a:r>
              <a:t>- The counts (pending, in progress, resolved) are calculated from this data</a:t>
            </a:r>
          </a:p>
          <a:p>
            <a:r>
              <a:t>- The UI updates automatically using React state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 — RAISE A COMPLAINT (Details &amp; AI)</a:t>
            </a:r>
          </a:p>
          <a:p>
            <a:endParaRPr/>
          </a:p>
          <a:p>
            <a:r>
              <a:t>What to say:</a:t>
            </a:r>
          </a:p>
          <a:p>
            <a:r>
              <a:t>This is the "Raise a Complaint" form. It has 4 steps:</a:t>
            </a:r>
          </a:p>
          <a:p>
            <a:r>
              <a:t>Step 1: Details → Step 2: Location → Step 3: Media → Step 4: Review</a:t>
            </a:r>
          </a:p>
          <a:p>
            <a:endParaRPr/>
          </a:p>
          <a:p>
            <a:r>
              <a:t>LEFT SCREENSHOT — Empty form:</a:t>
            </a:r>
          </a:p>
          <a:p>
            <a:r>
              <a:t>- The citizen types:</a:t>
            </a:r>
          </a:p>
          <a:p>
            <a:r>
              <a:t>  • Complaint Title (e.g., "Sewage Complaint")</a:t>
            </a:r>
          </a:p>
          <a:p>
            <a:r>
              <a:t>  • Description (e.g., "overflow")</a:t>
            </a:r>
          </a:p>
          <a:p>
            <a:r>
              <a:t>  • Category (roads, water, electricity, sanitation, etc.)</a:t>
            </a:r>
          </a:p>
          <a:p>
            <a:r>
              <a:t>  • Priority (low, medium, high)</a:t>
            </a:r>
          </a:p>
          <a:p>
            <a:r>
              <a:t>  • Option to submit anonymously (checkbox)</a:t>
            </a:r>
          </a:p>
          <a:p>
            <a:endParaRPr/>
          </a:p>
          <a:p>
            <a:r>
              <a:t>- On the RIGHT side is the "Complaint Assistant" — an AI chatbot powered by Google Gemini</a:t>
            </a:r>
          </a:p>
          <a:p>
            <a:r>
              <a:t>  The citizen can ask questions like:</a:t>
            </a:r>
          </a:p>
          <a:p>
            <a:r>
              <a:t>  "How do I file a complaint?" or "How long does resolution take?"</a:t>
            </a:r>
          </a:p>
          <a:p>
            <a:r>
              <a:t>  The AI chatbot answers these questions in simple language.</a:t>
            </a:r>
          </a:p>
          <a:p>
            <a:endParaRPr/>
          </a:p>
          <a:p>
            <a:r>
              <a:t>- There is an "Analyze &amp; Auto-Classify" button</a:t>
            </a:r>
          </a:p>
          <a:p>
            <a:r>
              <a:t>  When clicked, the AI reads the complaint title and description and automatically suggests:</a:t>
            </a:r>
          </a:p>
          <a:p>
            <a:r>
              <a:t>  → Category (e.g., Sanitation)</a:t>
            </a:r>
          </a:p>
          <a:p>
            <a:r>
              <a:t>  → Priority level (e.g., Medium)</a:t>
            </a:r>
          </a:p>
          <a:p>
            <a:endParaRPr/>
          </a:p>
          <a:p>
            <a:r>
              <a:t>RIGHT SCREENSHOT — After AI classification:</a:t>
            </a:r>
          </a:p>
          <a:p>
            <a:r>
              <a:t>- The AI analyzed "Sewage Complaint - overflow" and shows:</a:t>
            </a:r>
          </a:p>
          <a:p>
            <a:r>
              <a:t>  • Confidence: 85%</a:t>
            </a:r>
          </a:p>
          <a:p>
            <a:r>
              <a:t>  • Suggested Category: Sanitation</a:t>
            </a:r>
          </a:p>
          <a:p>
            <a:r>
              <a:t>  • Priority: Medium</a:t>
            </a:r>
          </a:p>
          <a:p>
            <a:r>
              <a:t>  • Suggestion: "Please include specific street addresses or landmarks to help the sanitation team resolve this quickly."</a:t>
            </a:r>
          </a:p>
          <a:p>
            <a:r>
              <a:t>  </a:t>
            </a:r>
          </a:p>
          <a:p>
            <a:r>
              <a:t>This saves the citizen time and ensures complaints are categorized correctly.</a:t>
            </a:r>
          </a:p>
          <a:p>
            <a:endParaRPr/>
          </a:p>
          <a:p>
            <a:r>
              <a:t>How it works technically:</a:t>
            </a:r>
          </a:p>
          <a:p>
            <a:r>
              <a:t>- When the user clicks "Analyze &amp; Auto-Classify", Axios sends a POST request to /api/ai/classify</a:t>
            </a:r>
          </a:p>
          <a:p>
            <a:r>
              <a:t>- The backend calls Google Gemini API with the complaint text</a:t>
            </a:r>
          </a:p>
          <a:p>
            <a:r>
              <a:t>- Gemini returns: category, priority, confidence score, and suggestion text</a:t>
            </a:r>
          </a:p>
          <a:p>
            <a:r>
              <a:t>- The frontend displays this result and pre-fills the category and priority fields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 — LOCATION PIN &amp; MEDIA UPLOAD</a:t>
            </a:r>
          </a:p>
          <a:p>
            <a:endParaRPr/>
          </a:p>
          <a:p>
            <a:r>
              <a:t>What to say:</a:t>
            </a:r>
          </a:p>
          <a:p>
            <a:r>
              <a:t>After filling the details, the citizen moves to Step 2 and Step 3.</a:t>
            </a:r>
          </a:p>
          <a:p>
            <a:endParaRPr/>
          </a:p>
          <a:p>
            <a:r>
              <a:t>LEFT — STEP 2: LOCATION:</a:t>
            </a:r>
          </a:p>
          <a:p>
            <a:r>
              <a:t>- A real interactive map appears (powered by Leaflet.js using OpenStreetMap tiles)</a:t>
            </a:r>
          </a:p>
          <a:p>
            <a:r>
              <a:t>- The citizen can:</a:t>
            </a:r>
          </a:p>
          <a:p>
            <a:r>
              <a:t>  • Click "Detect My Location" — automatically detects GPS coordinates</a:t>
            </a:r>
          </a:p>
          <a:p>
            <a:r>
              <a:t>  • Search for a location by typing an address</a:t>
            </a:r>
          </a:p>
          <a:p>
            <a:r>
              <a:t>  • Click anywhere on the map to drop a pin at the exact location of the problem</a:t>
            </a:r>
          </a:p>
          <a:p>
            <a:r>
              <a:t>  </a:t>
            </a:r>
          </a:p>
          <a:p>
            <a:r>
              <a:t>- The map uses the Leaflet library which is free and open-source</a:t>
            </a:r>
          </a:p>
          <a:p>
            <a:r>
              <a:t>- The coordinates (latitude and longitude) are saved with the complaint</a:t>
            </a:r>
          </a:p>
          <a:p>
            <a:r>
              <a:t>- This helps the department know EXACTLY where to go</a:t>
            </a:r>
          </a:p>
          <a:p>
            <a:endParaRPr/>
          </a:p>
          <a:p>
            <a:r>
              <a:t>RIGHT — STEP 3: MEDIA UPLOAD:</a:t>
            </a:r>
          </a:p>
          <a:p>
            <a:r>
              <a:t>- The citizen can upload:</a:t>
            </a:r>
          </a:p>
          <a:p>
            <a:r>
              <a:t>  • Up to 5 images as proof (photos of the broken road, damaged light, etc.)</a:t>
            </a:r>
          </a:p>
          <a:p>
            <a:r>
              <a:t>  • 1 video (maximum 30MB)</a:t>
            </a:r>
          </a:p>
          <a:p>
            <a:r>
              <a:t>  </a:t>
            </a:r>
          </a:p>
          <a:p>
            <a:r>
              <a:t>- This gives visual evidence to the authorities so they can understand the severity</a:t>
            </a:r>
          </a:p>
          <a:p>
            <a:endParaRPr/>
          </a:p>
          <a:p>
            <a:r>
              <a:t>How it works technically:</a:t>
            </a:r>
          </a:p>
          <a:p>
            <a:r>
              <a:t>- Images/videos are sent as multipart/form-data (file upload format)</a:t>
            </a:r>
          </a:p>
          <a:p>
            <a:r>
              <a:t>- The backend uses Multer middleware to handle the uploaded files</a:t>
            </a:r>
          </a:p>
          <a:p>
            <a:r>
              <a:t>- Files are then uploaded to Cloudinary (a cloud storage service)</a:t>
            </a:r>
          </a:p>
          <a:p>
            <a:r>
              <a:t>- Cloudinary gives back a URL for each file, which is saved in MongoDB</a:t>
            </a:r>
          </a:p>
          <a:p>
            <a:r>
              <a:t>- When viewing the complaint, these URLs are used to display the images/videos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 — REVIEW &amp; SUBMIT + MY COMPLAINTS</a:t>
            </a:r>
          </a:p>
          <a:p>
            <a:endParaRPr/>
          </a:p>
          <a:p>
            <a:r>
              <a:t>What to say:</a:t>
            </a:r>
          </a:p>
          <a:p>
            <a:endParaRPr/>
          </a:p>
          <a:p>
            <a:r>
              <a:t>LEFT — STEP 4: REVIEW YOUR COMPLAINT:</a:t>
            </a:r>
          </a:p>
          <a:p>
            <a:r>
              <a:t>Before submitting, the citizen sees a complete summary of their complaint:</a:t>
            </a:r>
          </a:p>
          <a:p>
            <a:r>
              <a:t>- Title: Sewage Complaint</a:t>
            </a:r>
          </a:p>
          <a:p>
            <a:r>
              <a:t>- Description: overflow</a:t>
            </a:r>
          </a:p>
          <a:p>
            <a:r>
              <a:t>- Category: Sanitation (AI-classified)</a:t>
            </a:r>
          </a:p>
          <a:p>
            <a:r>
              <a:t>- Priority: Medium</a:t>
            </a:r>
          </a:p>
          <a:p>
            <a:r>
              <a:t>- Address: Not specified</a:t>
            </a:r>
          </a:p>
          <a:p>
            <a:r>
              <a:t>- Anonymous: No</a:t>
            </a:r>
          </a:p>
          <a:p>
            <a:r>
              <a:t>- Images: 0 file(s)</a:t>
            </a:r>
          </a:p>
          <a:p>
            <a:endParaRPr/>
          </a:p>
          <a:p>
            <a:r>
              <a:t>If everything looks correct, they click "Submit Complaint" (purple button).</a:t>
            </a:r>
          </a:p>
          <a:p>
            <a:r>
              <a:t>The complaint is saved to the database with status = "Pending".</a:t>
            </a:r>
          </a:p>
          <a:p>
            <a:endParaRPr/>
          </a:p>
          <a:p>
            <a:r>
              <a:t>RIGHT — MY COMPLAINTS:</a:t>
            </a:r>
          </a:p>
          <a:p>
            <a:r>
              <a:t>After submitting, the citizen can view all their complaints in the "My Complaints" page.</a:t>
            </a:r>
          </a:p>
          <a:p>
            <a:r>
              <a:t>- Shows a list of complaint cards</a:t>
            </a:r>
          </a:p>
          <a:p>
            <a:r>
              <a:t>- Each card shows: Category badge, Priority badge, Status badge, Title, Description, time</a:t>
            </a:r>
          </a:p>
          <a:p>
            <a:r>
              <a:t>- In this example: "Sewage Complaint" (Pending) and "Street Light" (Assigned)</a:t>
            </a:r>
          </a:p>
          <a:p>
            <a:r>
              <a:t>- The citizen can search complaints or filter by Status and Category</a:t>
            </a:r>
          </a:p>
          <a:p>
            <a:endParaRPr/>
          </a:p>
          <a:p>
            <a:r>
              <a:t>Status badge colors:</a:t>
            </a:r>
          </a:p>
          <a:p>
            <a:r>
              <a:t>- PENDING = orange (waiting for admin to assign)</a:t>
            </a:r>
          </a:p>
          <a:p>
            <a:r>
              <a:t>- ASSIGNED = blue (assigned to a department, not yet started)</a:t>
            </a:r>
          </a:p>
          <a:p>
            <a:r>
              <a:t>- IN PROGRESS = yellow (department is working on it)</a:t>
            </a:r>
          </a:p>
          <a:p>
            <a:r>
              <a:t>- RESOLVED = green (problem is fixed)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 — COMPLAINT DETAIL VIEW</a:t>
            </a:r>
          </a:p>
          <a:p>
            <a:endParaRPr/>
          </a:p>
          <a:p>
            <a:r>
              <a:t>What to say:</a:t>
            </a:r>
          </a:p>
          <a:p>
            <a:r>
              <a:t>When a citizen clicks on any complaint in their list, they see this detailed view.</a:t>
            </a:r>
          </a:p>
          <a:p>
            <a:endParaRPr/>
          </a:p>
          <a:p>
            <a:r>
              <a:t>What you can see:</a:t>
            </a:r>
          </a:p>
          <a:p>
            <a:r>
              <a:t>Left Panel:</a:t>
            </a:r>
          </a:p>
          <a:p>
            <a:r>
              <a:t>- Complaint title, category, priority, and status badges at the top</a:t>
            </a:r>
          </a:p>
          <a:p>
            <a:r>
              <a:t>- "Smart Analysis" box — shows the AI's analysis (e.g., "Identified key terms relating to sanitation department")</a:t>
            </a:r>
          </a:p>
          <a:p>
            <a:r>
              <a:t>- Upvote button — other citizens can upvote if they have the same problem</a:t>
            </a:r>
          </a:p>
          <a:p>
            <a:r>
              <a:t>- Share button</a:t>
            </a:r>
          </a:p>
          <a:p>
            <a:r>
              <a:t>- Location Map — shows exactly where the problem is on Leaflet map with a pin</a:t>
            </a:r>
          </a:p>
          <a:p>
            <a:r>
              <a:t>- Comments Section — citizens and authorities can leave comments</a:t>
            </a:r>
          </a:p>
          <a:p>
            <a:endParaRPr/>
          </a:p>
          <a:p>
            <a:r>
              <a:t>Right Panel:</a:t>
            </a:r>
          </a:p>
          <a:p>
            <a:r>
              <a:t>- SLA Details: Shows the target resolution date (e.g., Jun 1, 2026)</a:t>
            </a:r>
          </a:p>
          <a:p>
            <a:r>
              <a:t>  SLA = Service Level Agreement — the maximum time allowed to resolve a complaint</a:t>
            </a:r>
          </a:p>
          <a:p>
            <a:r>
              <a:t>- Status Timeline: A step-by-step tracker showing:</a:t>
            </a:r>
          </a:p>
          <a:p>
            <a:r>
              <a:t>  1. Submitted (✓ completed — highlighted in purple)</a:t>
            </a:r>
          </a:p>
          <a:p>
            <a:r>
              <a:t>  2. Assigned (pending)</a:t>
            </a:r>
          </a:p>
          <a:p>
            <a:r>
              <a:t>  3. In Progress (pending)</a:t>
            </a:r>
          </a:p>
          <a:p>
            <a:r>
              <a:t>  4. Resolved (pending)</a:t>
            </a:r>
          </a:p>
          <a:p>
            <a:r>
              <a:t>- Activity Log: Shows "pending: Complaint submitted successfully · May 25, 9:52 PM"</a:t>
            </a:r>
          </a:p>
          <a:p>
            <a:r>
              <a:t>- Submitted By: Shows "Anonymous Citizen" (because anonymous was selected)</a:t>
            </a:r>
          </a:p>
          <a:p>
            <a:endParaRPr/>
          </a:p>
          <a:p>
            <a:r>
              <a:t>This gives citizens full transparency into their complaint's journey.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14 — CITIZEN PROFILE</a:t>
            </a:r>
          </a:p>
          <a:p>
            <a:endParaRPr/>
          </a:p>
          <a:p>
            <a:r>
              <a:t>What to say:</a:t>
            </a:r>
          </a:p>
          <a:p>
            <a:r>
              <a:t>The Profile page allows citizens to manage their account information.</a:t>
            </a:r>
          </a:p>
          <a:p>
            <a:endParaRPr/>
          </a:p>
          <a:p>
            <a:r>
              <a:t>What you can see:</a:t>
            </a:r>
          </a:p>
          <a:p>
            <a:r>
              <a:t>- Top section shows: Name (Happy Saini), Verified badge (green), email, role (CITIZEN), last login time</a:t>
            </a:r>
          </a:p>
          <a:p>
            <a:r>
              <a:t>- Three tabs:</a:t>
            </a:r>
          </a:p>
          <a:p>
            <a:r>
              <a:t>  1. Profile — update personal information</a:t>
            </a:r>
          </a:p>
          <a:p>
            <a:r>
              <a:t>  2. Security — change password</a:t>
            </a:r>
          </a:p>
          <a:p>
            <a:r>
              <a:t>  3. Notifications — manage notification preferences</a:t>
            </a:r>
          </a:p>
          <a:p>
            <a:endParaRPr/>
          </a:p>
          <a:p>
            <a:r>
              <a:t>Profile form fields:</a:t>
            </a:r>
          </a:p>
          <a:p>
            <a:r>
              <a:t>- Full Name</a:t>
            </a:r>
          </a:p>
          <a:p>
            <a:r>
              <a:t>- Avatar URL (link to a profile picture)</a:t>
            </a:r>
          </a:p>
          <a:p>
            <a:r>
              <a:t>- Email (shown but typically not editable)</a:t>
            </a:r>
          </a:p>
          <a:p>
            <a:r>
              <a:t>- Phone number</a:t>
            </a:r>
          </a:p>
          <a:p>
            <a:r>
              <a:t>- Address (city/area)</a:t>
            </a:r>
          </a:p>
          <a:p>
            <a:r>
              <a:t>- "Save Changes" button to update</a:t>
            </a:r>
          </a:p>
          <a:p>
            <a:endParaRPr/>
          </a:p>
          <a:p>
            <a:r>
              <a:t>How it works technically:</a:t>
            </a:r>
          </a:p>
          <a:p>
            <a:r>
              <a:t>- GET /api/auth/me — fetches current user data when the page loads</a:t>
            </a:r>
          </a:p>
          <a:p>
            <a:r>
              <a:t>- PUT /api/auth/profile — sends updated data to the server</a:t>
            </a:r>
          </a:p>
          <a:p>
            <a:r>
              <a:t>- The server validates the data and updates the user in MongoDB</a:t>
            </a:r>
          </a:p>
          <a:p>
            <a:r>
              <a:t>- A success toast notification appears after saving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15 — ADMIN DASHBOARD</a:t>
            </a:r>
          </a:p>
          <a:p>
            <a:endParaRPr/>
          </a:p>
          <a:p>
            <a:r>
              <a:t>What to say:</a:t>
            </a:r>
          </a:p>
          <a:p>
            <a:r>
              <a:t>When the admin logs in, they see this comprehensive Admin Dashboard.</a:t>
            </a:r>
          </a:p>
          <a:p>
            <a:endParaRPr/>
          </a:p>
          <a:p>
            <a:r>
              <a:t>What you can see:</a:t>
            </a:r>
          </a:p>
          <a:p>
            <a:r>
              <a:t>Top row of KPI cards (Key Performance Indicators):</a:t>
            </a:r>
          </a:p>
          <a:p>
            <a:r>
              <a:t>- Total Complaints: 2</a:t>
            </a:r>
          </a:p>
          <a:p>
            <a:r>
              <a:t>- Pending: 1 (yellow — needs attention)</a:t>
            </a:r>
          </a:p>
          <a:p>
            <a:r>
              <a:t>- Resolved: 0</a:t>
            </a:r>
          </a:p>
          <a:p>
            <a:r>
              <a:t>- SLA Breached: 0 (red — complaints that missed the deadline)</a:t>
            </a:r>
          </a:p>
          <a:p>
            <a:endParaRPr/>
          </a:p>
          <a:p>
            <a:r>
              <a:t>Second row of cards:</a:t>
            </a:r>
          </a:p>
          <a:p>
            <a:r>
              <a:t>- Assigned: 1</a:t>
            </a:r>
          </a:p>
          <a:p>
            <a:r>
              <a:t>- Registered Citizens: 2</a:t>
            </a:r>
          </a:p>
          <a:p>
            <a:r>
              <a:t>- Departments: 1</a:t>
            </a:r>
          </a:p>
          <a:p>
            <a:endParaRPr/>
          </a:p>
          <a:p>
            <a:r>
              <a:t>Bottom section — Recent Complaints table:</a:t>
            </a:r>
          </a:p>
          <a:p>
            <a:r>
              <a:t>Shows the latest complaints with columns:</a:t>
            </a:r>
          </a:p>
          <a:p>
            <a:r>
              <a:t>Title | Category | Priority | Status | Citizen | Time</a:t>
            </a:r>
          </a:p>
          <a:p>
            <a:endParaRPr/>
          </a:p>
          <a:p>
            <a:r>
              <a:t>For example:</a:t>
            </a:r>
          </a:p>
          <a:p>
            <a:r>
              <a:t>- "Sewage Complaint" | Sanitation | Medium | PENDING | Anonymous | 3 minutes ago</a:t>
            </a:r>
          </a:p>
          <a:p>
            <a:r>
              <a:t>- "Street Light" | Roads | Medium | ASSIGNED | Anonymous | 2 days ago</a:t>
            </a:r>
          </a:p>
          <a:p>
            <a:endParaRPr/>
          </a:p>
          <a:p>
            <a:r>
              <a:t>The admin can navigate to different sections using the top navigation bar:</a:t>
            </a:r>
          </a:p>
          <a:p>
            <a:r>
              <a:t>Dashboard | Complaints | Users | Departments | Analytics | SLA</a:t>
            </a:r>
          </a:p>
          <a:p>
            <a:endParaRPr/>
          </a:p>
          <a:p>
            <a:r>
              <a:t>How it works:</a:t>
            </a:r>
          </a:p>
          <a:p>
            <a:r>
              <a:t>- GET /api/admin/dashboard — fetches all these numbers from the server</a:t>
            </a:r>
          </a:p>
          <a:p>
            <a:r>
              <a:t>- Only users with role="admin" can access this page</a:t>
            </a:r>
          </a:p>
          <a:p>
            <a:r>
              <a:t>- If a citizen tries to access /admin/dashboard, they get redirected (Protected Route)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16 — ADMIN MANAGE COMPLAINTS</a:t>
            </a:r>
          </a:p>
          <a:p>
            <a:endParaRPr/>
          </a:p>
          <a:p>
            <a:r>
              <a:t>What to say:</a:t>
            </a:r>
          </a:p>
          <a:p>
            <a:endParaRPr/>
          </a:p>
          <a:p>
            <a:r>
              <a:t>LEFT — MANAGE COMPLAINTS PAGE:</a:t>
            </a:r>
          </a:p>
          <a:p>
            <a:r>
              <a:t>The admin sees all complaints in a clean table with columns:</a:t>
            </a:r>
          </a:p>
          <a:p>
            <a:r>
              <a:t>Title | Category | Priority | Status | Citizen | Assigned To | Date | Actions</a:t>
            </a:r>
          </a:p>
          <a:p>
            <a:endParaRPr/>
          </a:p>
          <a:p>
            <a:r>
              <a:t>- There is a Search bar to find specific complaints</a:t>
            </a:r>
          </a:p>
          <a:p>
            <a:r>
              <a:t>- Filters: "All Status", "All Categories", "All Priority" — dropdown filters</a:t>
            </a:r>
          </a:p>
          <a:p>
            <a:r>
              <a:t>- Each row has a "Manage" button</a:t>
            </a:r>
          </a:p>
          <a:p>
            <a:endParaRPr/>
          </a:p>
          <a:p>
            <a:r>
              <a:t>RIGHT — MANAGE COMPLAINT POPUP:</a:t>
            </a:r>
          </a:p>
          <a:p>
            <a:r>
              <a:t>When the admin clicks "Manage" on a complaint (e.g., Sewage Complaint):</a:t>
            </a:r>
          </a:p>
          <a:p>
            <a:r>
              <a:t>A popup modal appears with two sections:</a:t>
            </a:r>
          </a:p>
          <a:p>
            <a:endParaRPr/>
          </a:p>
          <a:p>
            <a:r>
              <a:t>1. "Assign to Department":</a:t>
            </a:r>
          </a:p>
          <a:p>
            <a:r>
              <a:t>   - Dropdown to select which department should handle this complaint</a:t>
            </a:r>
          </a:p>
          <a:p>
            <a:r>
              <a:t>   - "Assign" button — sends the complaint to that department</a:t>
            </a:r>
          </a:p>
          <a:p>
            <a:r>
              <a:t>   - The department receives a real-time notification via Socket.io</a:t>
            </a:r>
          </a:p>
          <a:p>
            <a:endParaRPr/>
          </a:p>
          <a:p>
            <a:r>
              <a:t>2. "Update Status":</a:t>
            </a:r>
          </a:p>
          <a:p>
            <a:r>
              <a:t>   - Dropdown to change status (pending, assigned, in_progress, resolved, rejected)</a:t>
            </a:r>
          </a:p>
          <a:p>
            <a:r>
              <a:t>   - Optional Remarks text box to add a note</a:t>
            </a:r>
          </a:p>
          <a:p>
            <a:r>
              <a:t>   - "Update Status" button</a:t>
            </a:r>
          </a:p>
          <a:p>
            <a:endParaRPr/>
          </a:p>
          <a:p>
            <a:r>
              <a:t>This gives the admin full control over each complaint's workflow.</a:t>
            </a:r>
          </a:p>
          <a:p>
            <a:endParaRPr/>
          </a:p>
          <a:p>
            <a:r>
              <a:t>How it works technically:</a:t>
            </a:r>
          </a:p>
          <a:p>
            <a:r>
              <a:t>- PUT /api/complaints/:id/assign — assigns to a department</a:t>
            </a:r>
          </a:p>
          <a:p>
            <a:r>
              <a:t>- PUT /api/complaints/:id/status — updates the status</a:t>
            </a:r>
          </a:p>
          <a:p>
            <a:r>
              <a:t>- When assigned, Socket.io emits a "notification" event to the department's connected client</a:t>
            </a:r>
          </a:p>
          <a:p>
            <a:r>
              <a:t>- A notification record is also saved in the Notifications collection in MongoDB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17 — USER MANAGEMENT</a:t>
            </a:r>
          </a:p>
          <a:p>
            <a:endParaRPr/>
          </a:p>
          <a:p>
            <a:r>
              <a:t>What to say:</a:t>
            </a:r>
          </a:p>
          <a:p>
            <a:r>
              <a:t>The "Users" section in the admin panel shows all registered users.</a:t>
            </a:r>
          </a:p>
          <a:p>
            <a:endParaRPr/>
          </a:p>
          <a:p>
            <a:r>
              <a:t>What you can see in the table:</a:t>
            </a:r>
          </a:p>
          <a:p>
            <a:r>
              <a:t>Columns: User (avatar + name) | Email | Role | Verified | Status | Joined | Actions</a:t>
            </a:r>
          </a:p>
          <a:p>
            <a:endParaRPr/>
          </a:p>
          <a:p>
            <a:r>
              <a:t>Users visible:</a:t>
            </a:r>
          </a:p>
          <a:p>
            <a:r>
              <a:t>1. Amit Saini — Citizen — Verified — Active — May 24, 2026 — [Block]</a:t>
            </a:r>
          </a:p>
          <a:p>
            <a:r>
              <a:t>2. Jee — Department — Verified — Active — May 23, 2026 — [Block]</a:t>
            </a:r>
          </a:p>
          <a:p>
            <a:r>
              <a:t>3. SDO — Department — Verified — Active — May 23, 2026 — [Block]</a:t>
            </a:r>
          </a:p>
          <a:p>
            <a:r>
              <a:t>4. Happy Saini — Citizen — Verified — Active — May 23, 2026 — [Block]</a:t>
            </a:r>
          </a:p>
          <a:p>
            <a:r>
              <a:t>5. Department Head — Department — Verified — Active — May 2, 2026 — [Block]</a:t>
            </a:r>
          </a:p>
          <a:p>
            <a:r>
              <a:t>6. Admin User — Admin — Verified — Active — May 2, 2026 — (no block button for admin)</a:t>
            </a:r>
          </a:p>
          <a:p>
            <a:endParaRPr/>
          </a:p>
          <a:p>
            <a:r>
              <a:t>Actions:</a:t>
            </a:r>
          </a:p>
          <a:p>
            <a:r>
              <a:t>- "Block" button (red) — if the admin blocks a user, that user cannot log in anymore</a:t>
            </a:r>
          </a:p>
          <a:p>
            <a:r>
              <a:t>- Search bar to find users by name or email</a:t>
            </a:r>
          </a:p>
          <a:p>
            <a:r>
              <a:t>- Filter by role: All Roles / Citizen / Department / Admin</a:t>
            </a:r>
          </a:p>
          <a:p>
            <a:endParaRPr/>
          </a:p>
          <a:p>
            <a:r>
              <a:t>This gives the admin complete control over who can use the system.</a:t>
            </a:r>
          </a:p>
          <a:p>
            <a:endParaRPr/>
          </a:p>
          <a:p>
            <a:r>
              <a:t>How it works technically:</a:t>
            </a:r>
          </a:p>
          <a:p>
            <a:r>
              <a:t>- GET /api/admin/users — fetches all users (admin only)</a:t>
            </a:r>
          </a:p>
          <a:p>
            <a:r>
              <a:t>- PUT /api/admin/users/:id/block — toggles the isBlocked field in MongoDB</a:t>
            </a:r>
          </a:p>
          <a:p>
            <a:r>
              <a:t>- The login system checks isBlocked — if true, the server rejects the login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18 — DEPARTMENT MANAGEMENT</a:t>
            </a:r>
          </a:p>
          <a:p>
            <a:endParaRPr/>
          </a:p>
          <a:p>
            <a:r>
              <a:t>What to say:</a:t>
            </a:r>
          </a:p>
          <a:p>
            <a:r>
              <a:t>The "Departments" section allows the admin to manage all government departments.</a:t>
            </a:r>
          </a:p>
          <a:p>
            <a:endParaRPr/>
          </a:p>
          <a:p>
            <a:r>
              <a:t>LEFT side — Existing department card:</a:t>
            </a:r>
          </a:p>
          <a:p>
            <a:r>
              <a:t>- "Electricity Board" — with description "Manage Bijli Board"</a:t>
            </a:r>
          </a:p>
          <a:p>
            <a:r>
              <a:t>- Shows: 1 assigned complaint | 0 resolved</a:t>
            </a:r>
          </a:p>
          <a:p>
            <a:r>
              <a:t>- "Staff Members (Show)" dropdown to see which users belong to this department</a:t>
            </a:r>
          </a:p>
          <a:p>
            <a:r>
              <a:t>- "+ Add Department User" button to add a staff member to this department</a:t>
            </a:r>
          </a:p>
          <a:p>
            <a:endParaRPr/>
          </a:p>
          <a:p>
            <a:r>
              <a:t>RIGHT side — Create Department modal:</a:t>
            </a:r>
          </a:p>
          <a:p>
            <a:r>
              <a:t>When the admin clicks "+ Add Department", a popup appears with fields:</a:t>
            </a:r>
          </a:p>
          <a:p>
            <a:r>
              <a:t>- Department Name (e.g., Sanitation Department)</a:t>
            </a:r>
          </a:p>
          <a:p>
            <a:r>
              <a:t>- Description</a:t>
            </a:r>
          </a:p>
          <a:p>
            <a:r>
              <a:t>- Email (department contact email)</a:t>
            </a:r>
          </a:p>
          <a:p>
            <a:r>
              <a:t>- Phone</a:t>
            </a:r>
          </a:p>
          <a:p>
            <a:r>
              <a:t>- Department Head (name of the head person)</a:t>
            </a:r>
          </a:p>
          <a:p>
            <a:r>
              <a:t>- Categories (comma-separated, e.g., "sanitation, water, roads")</a:t>
            </a:r>
          </a:p>
          <a:p>
            <a:r>
              <a:t>  This determines which types of complaints can be assigned to this department</a:t>
            </a:r>
          </a:p>
          <a:p>
            <a:endParaRPr/>
          </a:p>
          <a:p>
            <a:r>
              <a:t>The admin then clicks "Save" to create the department.</a:t>
            </a:r>
          </a:p>
          <a:p>
            <a:endParaRPr/>
          </a:p>
          <a:p>
            <a:r>
              <a:t>How it works technically:</a:t>
            </a:r>
          </a:p>
          <a:p>
            <a:r>
              <a:t>- POST /api/admin/departments — creates a new department (admin only)</a:t>
            </a:r>
          </a:p>
          <a:p>
            <a:r>
              <a:t>- The categories field is important — it tells the system which types of complaints </a:t>
            </a:r>
          </a:p>
          <a:p>
            <a:r>
              <a:t>  this department can handle</a:t>
            </a:r>
          </a:p>
          <a:p>
            <a:r>
              <a:t>- GET /api/admin/departments — lists all departments</a:t>
            </a:r>
          </a:p>
          <a:p>
            <a:r>
              <a:t>- PUT /api/admin/departments/:id — updates department info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19 — ADMIN PROFILE</a:t>
            </a:r>
          </a:p>
          <a:p>
            <a:endParaRPr/>
          </a:p>
          <a:p>
            <a:r>
              <a:t>What to say:</a:t>
            </a:r>
          </a:p>
          <a:p>
            <a:r>
              <a:t>The Admin also has a profile page to manage their own account details.</a:t>
            </a:r>
          </a:p>
          <a:p>
            <a:endParaRPr/>
          </a:p>
          <a:p>
            <a:r>
              <a:t>What you can see:</a:t>
            </a:r>
          </a:p>
          <a:p>
            <a:r>
              <a:t>- Top card: "Admin User" with VERIFIED badge, email: admin@civic.com</a:t>
            </a:r>
          </a:p>
          <a:p>
            <a:r>
              <a:t>- Role badge: ADMIN (orange color)</a:t>
            </a:r>
          </a:p>
          <a:p>
            <a:r>
              <a:t>- Last Login time shown</a:t>
            </a:r>
          </a:p>
          <a:p>
            <a:endParaRPr/>
          </a:p>
          <a:p>
            <a:r>
              <a:t>Three tabs:</a:t>
            </a:r>
          </a:p>
          <a:p>
            <a:r>
              <a:t>1. Profile — update name, avatar URL, phone, address</a:t>
            </a:r>
          </a:p>
          <a:p>
            <a:r>
              <a:t>2. Security — change password</a:t>
            </a:r>
          </a:p>
          <a:p>
            <a:r>
              <a:t>3. Notifications — manage alert preferences</a:t>
            </a:r>
          </a:p>
          <a:p>
            <a:endParaRPr/>
          </a:p>
          <a:p>
            <a:r>
              <a:t>This is the same reusable Profile component used by both citizens and admins.</a:t>
            </a:r>
          </a:p>
          <a:p>
            <a:r>
              <a:t>The only difference is the role badge displayed.</a:t>
            </a:r>
          </a:p>
          <a:p>
            <a:endParaRPr/>
          </a:p>
          <a:p>
            <a:r>
              <a:t>Note about the code:</a:t>
            </a:r>
          </a:p>
          <a:p>
            <a:r>
              <a:t>- The same React component (&lt;Profile /&gt;) works for both Citizen and Admin</a:t>
            </a:r>
          </a:p>
          <a:p>
            <a:r>
              <a:t>- It uses the data from the JWT token to determine the user's role</a:t>
            </a:r>
          </a:p>
          <a:p>
            <a:r>
              <a:t>- The backend validates the JWT and only allows the user to update their own profile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20 — DEPARTMENT PANEL</a:t>
            </a:r>
          </a:p>
          <a:p>
            <a:endParaRPr/>
          </a:p>
          <a:p>
            <a:r>
              <a:t>What to say:</a:t>
            </a:r>
          </a:p>
          <a:p>
            <a:r>
              <a:t>When a department staff member logs in, they see the "Assigned Complaints" page.</a:t>
            </a:r>
          </a:p>
          <a:p>
            <a:endParaRPr/>
          </a:p>
          <a:p>
            <a:r>
              <a:t>What you can see:</a:t>
            </a:r>
          </a:p>
          <a:p>
            <a:r>
              <a:t>- Heading: "Assigned Complaints"</a:t>
            </a:r>
          </a:p>
          <a:p>
            <a:r>
              <a:t>- Subtitle: "Manage and resolve issues assigned to your department"</a:t>
            </a:r>
          </a:p>
          <a:p>
            <a:r>
              <a:t>- Filter: "All Statuses" dropdown to filter complaints by status</a:t>
            </a:r>
          </a:p>
          <a:p>
            <a:endParaRPr/>
          </a:p>
          <a:p>
            <a:r>
              <a:t>Complaint cards visible:</a:t>
            </a:r>
          </a:p>
          <a:p>
            <a:r>
              <a:t>1. "Sewage Complaint" — Sanitation | Medium | PENDING</a:t>
            </a:r>
          </a:p>
          <a:p>
            <a:r>
              <a:t>   - Description: overflow</a:t>
            </a:r>
          </a:p>
          <a:p>
            <a:r>
              <a:t>   - Assigned: N/A (just assigned, not yet accepted)</a:t>
            </a:r>
          </a:p>
          <a:p>
            <a:r>
              <a:t>   - "Manage →" button</a:t>
            </a:r>
          </a:p>
          <a:p>
            <a:endParaRPr/>
          </a:p>
          <a:p>
            <a:r>
              <a:t>2. "Street Light" — Roads | Medium | ASSIGNED</a:t>
            </a:r>
          </a:p>
          <a:p>
            <a:r>
              <a:t>   - Description: Not Working Since Last 15 days</a:t>
            </a:r>
          </a:p>
          <a:p>
            <a:r>
              <a:t>   - Assigned: N/A</a:t>
            </a:r>
          </a:p>
          <a:p>
            <a:r>
              <a:t>   - "Manage →" button</a:t>
            </a:r>
          </a:p>
          <a:p>
            <a:endParaRPr/>
          </a:p>
          <a:p>
            <a:r>
              <a:t>When the department clicks "Manage →", they can:</a:t>
            </a:r>
          </a:p>
          <a:p>
            <a:r>
              <a:t>- Accept the complaint (starts the resolution process)</a:t>
            </a:r>
          </a:p>
          <a:p>
            <a:r>
              <a:t>- Reject it (if it was wrongly assigned)</a:t>
            </a:r>
          </a:p>
          <a:p>
            <a:r>
              <a:t>- Update progress (add notes, upload proof images)</a:t>
            </a:r>
          </a:p>
          <a:p>
            <a:r>
              <a:t>- Mark as complete (when the work is done)</a:t>
            </a:r>
          </a:p>
          <a:p>
            <a:endParaRPr/>
          </a:p>
          <a:p>
            <a:r>
              <a:t>This ensures accountability — department staff are responsible for their assigned complaints.</a:t>
            </a:r>
          </a:p>
          <a:p>
            <a:endParaRPr/>
          </a:p>
          <a:p>
            <a:r>
              <a:t>The top navigation bar shows only:</a:t>
            </a:r>
          </a:p>
          <a:p>
            <a:r>
              <a:t>- Assigned (their complaints)</a:t>
            </a:r>
          </a:p>
          <a:p>
            <a:r>
              <a:t>- Performance (their stats)</a:t>
            </a:r>
          </a:p>
          <a:p>
            <a:r>
              <a:t>This is different from the Admin who sees all sections.</a:t>
            </a:r>
          </a:p>
          <a:p>
            <a:endParaRPr/>
          </a:p>
          <a:p>
            <a:r>
              <a:t>How it works:</a:t>
            </a:r>
          </a:p>
          <a:p>
            <a:r>
              <a:t>- GET /api/department/assigned — returns only complaints assigned to this department</a:t>
            </a:r>
          </a:p>
          <a:p>
            <a:r>
              <a:t>- PUT /api/department/complaints/:id/accept — accepts the complaint</a:t>
            </a:r>
          </a:p>
          <a:p>
            <a:r>
              <a:t>- PUT /api/department/complaints/:id/complete — marks as resolved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21 — AI FEATURES</a:t>
            </a:r>
          </a:p>
          <a:p>
            <a:endParaRPr/>
          </a:p>
          <a:p>
            <a:r>
              <a:t>What to say:</a:t>
            </a:r>
          </a:p>
          <a:p>
            <a:r>
              <a:t>One of the most exciting features of Resolvex is the AI integration using Google Gemini.</a:t>
            </a:r>
          </a:p>
          <a:p>
            <a:endParaRPr/>
          </a:p>
          <a:p>
            <a:r>
              <a:t>There are THREE AI-powered features:</a:t>
            </a:r>
          </a:p>
          <a:p>
            <a:endParaRPr/>
          </a:p>
          <a:p>
            <a:r>
              <a:t>1. AUTO-CLASSIFY (screenshot left):</a:t>
            </a:r>
          </a:p>
          <a:p>
            <a:r>
              <a:t>   This is shown in the "Raise Complaint" form.</a:t>
            </a:r>
          </a:p>
          <a:p>
            <a:r>
              <a:t>   The old version had a simple "Auto-Classify with AI" button.</a:t>
            </a:r>
          </a:p>
          <a:p>
            <a:r>
              <a:t>   When clicked, the AI reads the title and description and returns:</a:t>
            </a:r>
          </a:p>
          <a:p>
            <a:r>
              <a:t>   - Category: roads (keyword-based classification)</a:t>
            </a:r>
          </a:p>
          <a:p>
            <a:r>
              <a:t>   - Priority: medium</a:t>
            </a:r>
          </a:p>
          <a:p>
            <a:r>
              <a:t>   This helps ensure complaints are correctly categorized every time.</a:t>
            </a:r>
          </a:p>
          <a:p>
            <a:endParaRPr/>
          </a:p>
          <a:p>
            <a:r>
              <a:t>2. ADVANCED CLASSIFICATION (screenshot center):</a:t>
            </a:r>
          </a:p>
          <a:p>
            <a:r>
              <a:t>   In the newer version, "Analyze &amp; Auto-Classify" gives a more detailed result:</a:t>
            </a:r>
          </a:p>
          <a:p>
            <a:r>
              <a:t>   - Confidence: 85% (how sure the AI is)</a:t>
            </a:r>
          </a:p>
          <a:p>
            <a:r>
              <a:t>   - Suggested Category: Sanitation</a:t>
            </a:r>
          </a:p>
          <a:p>
            <a:r>
              <a:t>   - Priority: Medium</a:t>
            </a:r>
          </a:p>
          <a:p>
            <a:r>
              <a:t>   - Suggestion text: "Please include specific street addresses or landmarks </a:t>
            </a:r>
          </a:p>
          <a:p>
            <a:r>
              <a:t>     to help the sanitation team resolve this quickly."</a:t>
            </a:r>
          </a:p>
          <a:p>
            <a:r>
              <a:t>   This is much more helpful for the department who will handle the complaint.</a:t>
            </a:r>
          </a:p>
          <a:p>
            <a:endParaRPr/>
          </a:p>
          <a:p>
            <a:r>
              <a:t>3. AI CHATBOT ASSISTANT:</a:t>
            </a:r>
          </a:p>
          <a:p>
            <a:r>
              <a:t>   On the complaint form, there is a "Complaint Assistant" chatbot panel.</a:t>
            </a:r>
          </a:p>
          <a:p>
            <a:r>
              <a:t>   Citizens can ask questions like:</a:t>
            </a:r>
          </a:p>
          <a:p>
            <a:r>
              <a:t>   - "How do I file a complaint?"</a:t>
            </a:r>
          </a:p>
          <a:p>
            <a:r>
              <a:t>   - "What issues can I report?"</a:t>
            </a:r>
          </a:p>
          <a:p>
            <a:r>
              <a:t>   - "How long does resolution take?"</a:t>
            </a:r>
          </a:p>
          <a:p>
            <a:r>
              <a:t>   - "Can I track my complaint?"</a:t>
            </a:r>
          </a:p>
          <a:p>
            <a:r>
              <a:t>   The chatbot responds using Gemini AI.</a:t>
            </a:r>
          </a:p>
          <a:p>
            <a:endParaRPr/>
          </a:p>
          <a:p>
            <a:r>
              <a:t>API Routes for AI:</a:t>
            </a:r>
          </a:p>
          <a:p>
            <a:r>
              <a:t>- POST /api/ai/classify — classifies a complaint (category + priority + confidence)</a:t>
            </a:r>
          </a:p>
          <a:p>
            <a:r>
              <a:t>- POST /api/ai/suggest — gives improvement suggestions for complaint description</a:t>
            </a:r>
          </a:p>
          <a:p>
            <a:r>
              <a:t>- POST /api/ai/chatbot — chatbot conversation endpoint</a:t>
            </a:r>
          </a:p>
          <a:p>
            <a:endParaRPr/>
          </a:p>
          <a:p>
            <a:r>
              <a:t>Technology:</a:t>
            </a:r>
          </a:p>
          <a:p>
            <a:r>
              <a:t>- Package: @google/generative-ai (official Google Gemini Node.js SDK)</a:t>
            </a:r>
          </a:p>
          <a:p>
            <a:r>
              <a:t>- If the API key is missing, the system falls back to a mock/rule-based response</a:t>
            </a:r>
          </a:p>
          <a:p>
            <a:r>
              <a:t>  so the app still works even without the AI key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22 — DATABASE DESIGN</a:t>
            </a:r>
          </a:p>
          <a:p>
            <a:endParaRPr/>
          </a:p>
          <a:p>
            <a:r>
              <a:t>What to say:</a:t>
            </a:r>
          </a:p>
          <a:p>
            <a:r>
              <a:t>The application uses MongoDB as its database. </a:t>
            </a:r>
          </a:p>
          <a:p>
            <a:r>
              <a:t>MongoDB stores data in "collections" — each collection is like a table in a traditional database.</a:t>
            </a:r>
          </a:p>
          <a:p>
            <a:r>
              <a:t>There are four main collections:</a:t>
            </a:r>
          </a:p>
          <a:p>
            <a:endParaRPr/>
          </a:p>
          <a:p>
            <a:r>
              <a:t>1. USER Collection:</a:t>
            </a:r>
          </a:p>
          <a:p>
            <a:r>
              <a:t>   - Stores all user accounts (citizens, admins, department staff)</a:t>
            </a:r>
          </a:p>
          <a:p>
            <a:r>
              <a:t>   - Key fields: name, email, password (stored as a hash — never plain text), role, isVerified, isBlocked</a:t>
            </a:r>
          </a:p>
          <a:p>
            <a:r>
              <a:t>   - verificationToken and resetToken are temporary tokens for email verification and password reset</a:t>
            </a:r>
          </a:p>
          <a:p>
            <a:r>
              <a:t>   - lastLogin tracks when the user last logged in</a:t>
            </a:r>
          </a:p>
          <a:p>
            <a:endParaRPr/>
          </a:p>
          <a:p>
            <a:r>
              <a:t>2. COMPLAINT Collection:</a:t>
            </a:r>
          </a:p>
          <a:p>
            <a:r>
              <a:t>   - The most important collection</a:t>
            </a:r>
          </a:p>
          <a:p>
            <a:r>
              <a:t>   - Stores all civic complaints</a:t>
            </a:r>
          </a:p>
          <a:p>
            <a:r>
              <a:t>   - Key fields: title, description, category, priority, status</a:t>
            </a:r>
          </a:p>
          <a:p>
            <a:r>
              <a:t>   - citizen refers to the User who submitted it (using MongoDB ObjectId reference)</a:t>
            </a:r>
          </a:p>
          <a:p>
            <a:r>
              <a:t>   - assignedTo refers to the Department handling it</a:t>
            </a:r>
          </a:p>
          <a:p>
            <a:r>
              <a:t>   - location stores latitude, longitude, and address</a:t>
            </a:r>
          </a:p>
          <a:p>
            <a:r>
              <a:t>   - images[] and videos[] store Cloudinary URLs of uploaded media</a:t>
            </a:r>
          </a:p>
          <a:p>
            <a:r>
              <a:t>   - upvotes[] stores user IDs who upvoted (so each user can only upvote once)</a:t>
            </a:r>
          </a:p>
          <a:p>
            <a:r>
              <a:t>   - comments[] stores all comments with timestamp</a:t>
            </a:r>
          </a:p>
          <a:p>
            <a:r>
              <a:t>   - timeline[] stores every status change event with timestamp</a:t>
            </a:r>
          </a:p>
          <a:p>
            <a:r>
              <a:t>   - slaDeadline is calculated based on complaint priority:</a:t>
            </a:r>
          </a:p>
          <a:p>
            <a:r>
              <a:t>     High priority = 3 days | Medium = 7 days | Low = 14 days</a:t>
            </a:r>
          </a:p>
          <a:p>
            <a:endParaRPr/>
          </a:p>
          <a:p>
            <a:r>
              <a:t>3. DEPARTMENT Collection:</a:t>
            </a:r>
          </a:p>
          <a:p>
            <a:r>
              <a:t>   - Stores all government departments</a:t>
            </a:r>
          </a:p>
          <a:p>
            <a:r>
              <a:t>   - categories[] defines which types of complaints this department handles</a:t>
            </a:r>
          </a:p>
          <a:p>
            <a:r>
              <a:t>   - members[] links to User accounts belonging to this department</a:t>
            </a:r>
          </a:p>
          <a:p>
            <a:endParaRPr/>
          </a:p>
          <a:p>
            <a:r>
              <a:t>4. NOTIFICATION Collection:</a:t>
            </a:r>
          </a:p>
          <a:p>
            <a:r>
              <a:t>   - Every status change, assignment, or update creates a notification record</a:t>
            </a:r>
          </a:p>
          <a:p>
            <a:r>
              <a:t>   - isRead tracks whether the user has read the notification</a:t>
            </a:r>
          </a:p>
          <a:p>
            <a:r>
              <a:t>   - The Socket.io system also pushes real-time notifications immediately</a:t>
            </a:r>
          </a:p>
          <a:p>
            <a:endParaRPr/>
          </a:p>
          <a:p>
            <a:r>
              <a:t>Library used: Mongoose (defines the schema/structure and handles all database queries)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23 — REST API ROUTES</a:t>
            </a:r>
          </a:p>
          <a:p>
            <a:endParaRPr/>
          </a:p>
          <a:p>
            <a:r>
              <a:t>What to say:</a:t>
            </a:r>
          </a:p>
          <a:p>
            <a:r>
              <a:t>The backend of Resolvex is built as a REST API. </a:t>
            </a:r>
          </a:p>
          <a:p>
            <a:r>
              <a:t>REST API means: the frontend sends HTTP requests (GET, POST, PUT, DELETE) to the server, </a:t>
            </a:r>
          </a:p>
          <a:p>
            <a:r>
              <a:t>and the server sends back a JSON response.</a:t>
            </a:r>
          </a:p>
          <a:p>
            <a:endParaRPr/>
          </a:p>
          <a:p>
            <a:r>
              <a:t>There are 5 main API groups:</a:t>
            </a:r>
          </a:p>
          <a:p>
            <a:endParaRPr/>
          </a:p>
          <a:p>
            <a:r>
              <a:t>1. AUTH (/api/auth):</a:t>
            </a:r>
          </a:p>
          <a:p>
            <a:r>
              <a:t>   Handles user registration, login, email verification, password reset, and profile management.</a:t>
            </a:r>
          </a:p>
          <a:p>
            <a:r>
              <a:t>   The most important: POST /login — returns a JWT token after successful login.</a:t>
            </a:r>
          </a:p>
          <a:p>
            <a:endParaRPr/>
          </a:p>
          <a:p>
            <a:r>
              <a:t>2. COMPLAINTS (/api/complaints):</a:t>
            </a:r>
          </a:p>
          <a:p>
            <a:r>
              <a:t>   Handles everything related to complaints.</a:t>
            </a:r>
          </a:p>
          <a:p>
            <a:r>
              <a:t>   - POST / — creates a new complaint (only citizens can do this)</a:t>
            </a:r>
          </a:p>
          <a:p>
            <a:r>
              <a:t>   - PUT /:id/assign — admin assigns complaint to a department</a:t>
            </a:r>
          </a:p>
          <a:p>
            <a:r>
              <a:t>   - POST /:id/upvote — toggle upvote on a complaint</a:t>
            </a:r>
          </a:p>
          <a:p>
            <a:r>
              <a:t>   - GET /heatmap — returns location data for all complaints (used for the map view)</a:t>
            </a:r>
          </a:p>
          <a:p>
            <a:endParaRPr/>
          </a:p>
          <a:p>
            <a:r>
              <a:t>3. ADMIN (/api/admin):</a:t>
            </a:r>
          </a:p>
          <a:p>
            <a:r>
              <a:t>   Admin-only routes.</a:t>
            </a:r>
          </a:p>
          <a:p>
            <a:r>
              <a:t>   - GET /dashboard — returns KPI numbers (total, pending, resolved, SLA breached)</a:t>
            </a:r>
          </a:p>
          <a:p>
            <a:r>
              <a:t>   - GET /analytics — detailed data for charts</a:t>
            </a:r>
          </a:p>
          <a:p>
            <a:r>
              <a:t>   - GET /sla — complaints that missed their deadline</a:t>
            </a:r>
          </a:p>
          <a:p>
            <a:endParaRPr/>
          </a:p>
          <a:p>
            <a:r>
              <a:t>4. DEPARTMENT (/api/department):</a:t>
            </a:r>
          </a:p>
          <a:p>
            <a:r>
              <a:t>   Department-only routes.</a:t>
            </a:r>
          </a:p>
          <a:p>
            <a:r>
              <a:t>   - GET /assigned — returns only complaints assigned to MY department</a:t>
            </a:r>
          </a:p>
          <a:p>
            <a:r>
              <a:t>   - PUT /:id/progress — updates status to "in progress", can upload proof images</a:t>
            </a:r>
          </a:p>
          <a:p>
            <a:endParaRPr/>
          </a:p>
          <a:p>
            <a:r>
              <a:t>5. NOTIFICATIONS (/api/notifications):</a:t>
            </a:r>
          </a:p>
          <a:p>
            <a:r>
              <a:t>   - GET / — returns my notifications list</a:t>
            </a:r>
          </a:p>
          <a:p>
            <a:r>
              <a:t>   - PUT /read-all — marks all as read</a:t>
            </a:r>
          </a:p>
          <a:p>
            <a:endParaRPr/>
          </a:p>
          <a:p>
            <a:r>
              <a:t>6. AI (/api/ai):</a:t>
            </a:r>
          </a:p>
          <a:p>
            <a:r>
              <a:t>   - POST /classify — sends complaint text to Gemini, returns category/priority/confidence</a:t>
            </a:r>
          </a:p>
          <a:p>
            <a:r>
              <a:t>   - POST /chatbot — processes chatbot messages using Gemini</a:t>
            </a:r>
          </a:p>
          <a:p>
            <a:endParaRPr/>
          </a:p>
          <a:p>
            <a:r>
              <a:t>Security:</a:t>
            </a:r>
          </a:p>
          <a:p>
            <a:r>
              <a:t>- All protected routes use JWT middleware (the "protect" function)</a:t>
            </a:r>
          </a:p>
          <a:p>
            <a:r>
              <a:t>- Role-based routes use "authorize('admin')" or "authorize('citizen')" middleware</a:t>
            </a:r>
          </a:p>
          <a:p>
            <a:r>
              <a:t>- If a citizen tries to call an admin route → 403 Forbidden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24 — REAL-TIME NOTIFICATIONS &amp; SLA MONITORING</a:t>
            </a:r>
          </a:p>
          <a:p>
            <a:endParaRPr/>
          </a:p>
          <a:p>
            <a:r>
              <a:t>What to say:</a:t>
            </a:r>
          </a:p>
          <a:p>
            <a:r>
              <a:t>Resolvex has two very important advanced features:</a:t>
            </a:r>
          </a:p>
          <a:p>
            <a:endParaRPr/>
          </a:p>
          <a:p>
            <a:r>
              <a:t>1. REAL-TIME NOTIFICATIONS (Socket.io):</a:t>
            </a:r>
          </a:p>
          <a:p>
            <a:endParaRPr/>
          </a:p>
          <a:p>
            <a:r>
              <a:t>What is Socket.io?</a:t>
            </a:r>
          </a:p>
          <a:p>
            <a:r>
              <a:t>Socket.io is a library that creates a special type of connection called WebSocket.</a:t>
            </a:r>
          </a:p>
          <a:p>
            <a:r>
              <a:t>Unlike normal HTTP (where the browser asks for data), WebSocket keeps a permanent </a:t>
            </a:r>
          </a:p>
          <a:p>
            <a:r>
              <a:t>connection open so the SERVER can push data to the browser any time.</a:t>
            </a:r>
          </a:p>
          <a:p>
            <a:endParaRPr/>
          </a:p>
          <a:p>
            <a:r>
              <a:t>How it works in Resolvex:</a:t>
            </a:r>
          </a:p>
          <a:p>
            <a:r>
              <a:t>- When a user logs in, their browser connects to the Socket.io server</a:t>
            </a:r>
          </a:p>
          <a:p>
            <a:r>
              <a:t>- The user is added to a "room" based on their user ID</a:t>
            </a:r>
          </a:p>
          <a:p>
            <a:r>
              <a:t>- Example: If admin assigns a complaint to the Electricity Board department:</a:t>
            </a:r>
          </a:p>
          <a:p>
            <a:r>
              <a:t>  → Server emits event to Electricity Board's room: "You have a new complaint!"</a:t>
            </a:r>
          </a:p>
          <a:p>
            <a:r>
              <a:t>  → The department's notification bell icon updates INSTANTLY</a:t>
            </a:r>
          </a:p>
          <a:p>
            <a:r>
              <a:t>  → They don't need to refresh the page</a:t>
            </a:r>
          </a:p>
          <a:p>
            <a:endParaRPr/>
          </a:p>
          <a:p>
            <a:r>
              <a:t>- Similarly, when the department updates the status to "In Progress":</a:t>
            </a:r>
          </a:p>
          <a:p>
            <a:r>
              <a:t>  → The citizen gets an instant notification</a:t>
            </a:r>
          </a:p>
          <a:p>
            <a:r>
              <a:t>  → Notification count increases in real-time</a:t>
            </a:r>
          </a:p>
          <a:p>
            <a:endParaRPr/>
          </a:p>
          <a:p>
            <a:r>
              <a:t>2. SLA MONITORING (node-cron):</a:t>
            </a:r>
          </a:p>
          <a:p>
            <a:endParaRPr/>
          </a:p>
          <a:p>
            <a:r>
              <a:t>What is SLA?</a:t>
            </a:r>
          </a:p>
          <a:p>
            <a:r>
              <a:t>SLA means Service Level Agreement — a promise that a complaint will be resolved </a:t>
            </a:r>
          </a:p>
          <a:p>
            <a:r>
              <a:t>within a certain time limit.</a:t>
            </a:r>
          </a:p>
          <a:p>
            <a:endParaRPr/>
          </a:p>
          <a:p>
            <a:r>
              <a:t>In Resolvex:</a:t>
            </a:r>
          </a:p>
          <a:p>
            <a:r>
              <a:t>- High priority complaint: must be resolved in 3 days</a:t>
            </a:r>
          </a:p>
          <a:p>
            <a:r>
              <a:t>- Medium priority: 7 days</a:t>
            </a:r>
          </a:p>
          <a:p>
            <a:r>
              <a:t>- Low priority: 14 days</a:t>
            </a:r>
          </a:p>
          <a:p>
            <a:endParaRPr/>
          </a:p>
          <a:p>
            <a:r>
              <a:t>What is node-cron?</a:t>
            </a:r>
          </a:p>
          <a:p>
            <a:r>
              <a:t>node-cron is a package that runs code automatically at scheduled times.</a:t>
            </a:r>
          </a:p>
          <a:p>
            <a:r>
              <a:t>Like a timer that goes off every hour.</a:t>
            </a:r>
          </a:p>
          <a:p>
            <a:endParaRPr/>
          </a:p>
          <a:p>
            <a:r>
              <a:t>Every hour, the cron job:</a:t>
            </a:r>
          </a:p>
          <a:p>
            <a:r>
              <a:t>1. Finds all unresolved complaints</a:t>
            </a:r>
          </a:p>
          <a:p>
            <a:r>
              <a:t>2. Compares today's date with the slaDeadline</a:t>
            </a:r>
          </a:p>
          <a:p>
            <a:r>
              <a:t>3. If the deadline has passed → marks complaint as "SLA Breached"</a:t>
            </a:r>
          </a:p>
          <a:p>
            <a:r>
              <a:t>4. The admin sees this on their dashboard with a red alert</a:t>
            </a:r>
          </a:p>
          <a:p>
            <a:endParaRPr/>
          </a:p>
          <a:p>
            <a:r>
              <a:t>This automatic monitoring means the admin doesn't have to manually check every complaint.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25 — CHALLENGES &amp; LEARNING</a:t>
            </a:r>
          </a:p>
          <a:p>
            <a:endParaRPr/>
          </a:p>
          <a:p>
            <a:r>
              <a:t>What to say:</a:t>
            </a:r>
          </a:p>
          <a:p>
            <a:r>
              <a:t>Building Resolvex was a great learning experience. Let me share the main challenges I faced:</a:t>
            </a:r>
          </a:p>
          <a:p>
            <a:endParaRPr/>
          </a:p>
          <a:p>
            <a:r>
              <a:t>1. JWT Role-Based Authentication:</a:t>
            </a:r>
          </a:p>
          <a:p>
            <a:r>
              <a:t>   The hardest part was making sure each type of user can only access their own pages.</a:t>
            </a:r>
          </a:p>
          <a:p>
            <a:r>
              <a:t>   A citizen should NOT be able to access the admin dashboard.</a:t>
            </a:r>
          </a:p>
          <a:p>
            <a:r>
              <a:t>   I learned to write middleware functions that check the JWT token and user role before </a:t>
            </a:r>
          </a:p>
          <a:p>
            <a:r>
              <a:t>   allowing access to each API route.</a:t>
            </a:r>
          </a:p>
          <a:p>
            <a:endParaRPr/>
          </a:p>
          <a:p>
            <a:r>
              <a:t>2. AI Integration:</a:t>
            </a:r>
          </a:p>
          <a:p>
            <a:r>
              <a:t>   Integrating Google Gemini was new for me. I had to learn how to write a good "prompt" </a:t>
            </a:r>
          </a:p>
          <a:p>
            <a:r>
              <a:t>   (the instruction you send to the AI) so it returns a structured JSON response.</a:t>
            </a:r>
          </a:p>
          <a:p>
            <a:r>
              <a:t>   I also built a fallback system — if the API key is missing, the system uses simple </a:t>
            </a:r>
          </a:p>
          <a:p>
            <a:r>
              <a:t>   keyword-based classification instead, so the app works even without the AI.</a:t>
            </a:r>
          </a:p>
          <a:p>
            <a:endParaRPr/>
          </a:p>
          <a:p>
            <a:r>
              <a:t>3. Real-Time Notifications with Socket.io:</a:t>
            </a:r>
          </a:p>
          <a:p>
            <a:r>
              <a:t>   Making data appear on screen WITHOUT refreshing the page was a new concept.</a:t>
            </a:r>
          </a:p>
          <a:p>
            <a:r>
              <a:t>   I learned about WebSockets, event emitters, and how to organize users into "rooms" </a:t>
            </a:r>
          </a:p>
          <a:p>
            <a:r>
              <a:t>   so notifications go to the right person.</a:t>
            </a:r>
          </a:p>
          <a:p>
            <a:endParaRPr/>
          </a:p>
          <a:p>
            <a:r>
              <a:t>4. File Upload Pipeline:</a:t>
            </a:r>
          </a:p>
          <a:p>
            <a:r>
              <a:t>   Uploading photos required two steps: first Multer reads the file from the request, </a:t>
            </a:r>
          </a:p>
          <a:p>
            <a:r>
              <a:t>   then sends it to Cloudinary and gets back a URL. I had to handle errors at each step.</a:t>
            </a:r>
          </a:p>
          <a:p>
            <a:endParaRPr/>
          </a:p>
          <a:p>
            <a:r>
              <a:t>5. SLA Cron Jobs:</a:t>
            </a:r>
          </a:p>
          <a:p>
            <a:r>
              <a:t>   Running automatic background tasks was new. node-cron runs my SLA check function </a:t>
            </a:r>
          </a:p>
          <a:p>
            <a:r>
              <a:t>   every hour without any user triggering it.</a:t>
            </a:r>
          </a:p>
          <a:p>
            <a:endParaRPr/>
          </a:p>
          <a:p>
            <a:r>
              <a:t>6. Responsive UI:</a:t>
            </a:r>
          </a:p>
          <a:p>
            <a:r>
              <a:t>   Making the interface look good on both large monitors and small screens was tricky.</a:t>
            </a:r>
          </a:p>
          <a:p>
            <a:r>
              <a:t>   I used CSS flexbox and grid for layouts, and added animations with Framer Motion.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26 — CONCLUSION &amp; FUTURE SCOPE</a:t>
            </a:r>
          </a:p>
          <a:p>
            <a:endParaRPr/>
          </a:p>
          <a:p>
            <a:r>
              <a:t>What to say:</a:t>
            </a:r>
          </a:p>
          <a:p>
            <a:r>
              <a:t>Let me now summarize what I have built and what can be done in the future.</a:t>
            </a:r>
          </a:p>
          <a:p>
            <a:endParaRPr/>
          </a:p>
          <a:p>
            <a:r>
              <a:t>WHAT WAS ACCOMPLISHED:</a:t>
            </a:r>
          </a:p>
          <a:p>
            <a:r>
              <a:t>I successfully built a complete full-stack civic complaint management system from scratch.</a:t>
            </a:r>
          </a:p>
          <a:p>
            <a:r>
              <a:t>The key achievements are:</a:t>
            </a:r>
          </a:p>
          <a:p>
            <a:r>
              <a:t>- Three separate dashboards for Citizen, Admin, and Department users</a:t>
            </a:r>
          </a:p>
          <a:p>
            <a:r>
              <a:t>- AI integration using Google Gemini for auto-classification</a:t>
            </a:r>
          </a:p>
          <a:p>
            <a:r>
              <a:t>- Real-time notifications using Socket.io (WebSockets)</a:t>
            </a:r>
          </a:p>
          <a:p>
            <a:r>
              <a:t>- Interactive maps using Leaflet.js</a:t>
            </a:r>
          </a:p>
          <a:p>
            <a:r>
              <a:t>- Secure login system with email verification (JWT + Nodemailer)</a:t>
            </a:r>
          </a:p>
          <a:p>
            <a:r>
              <a:t>- Automatic SLA monitoring using node-cron</a:t>
            </a:r>
          </a:p>
          <a:p>
            <a:r>
              <a:t>- File uploads to Cloudinary</a:t>
            </a:r>
          </a:p>
          <a:p>
            <a:r>
              <a:t>- Full REST API with role-based access control</a:t>
            </a:r>
          </a:p>
          <a:p>
            <a:r>
              <a:t>- Clean, modern, responsive UI with dark theme and animations</a:t>
            </a:r>
          </a:p>
          <a:p>
            <a:endParaRPr/>
          </a:p>
          <a:p>
            <a:r>
              <a:t>FUTURE SCOPE:</a:t>
            </a:r>
          </a:p>
          <a:p>
            <a:r>
              <a:t>There are many ways to improve and expand this project:</a:t>
            </a:r>
          </a:p>
          <a:p>
            <a:endParaRPr/>
          </a:p>
          <a:p>
            <a:r>
              <a:t>1. Mobile App: Build a React Native app so citizens can report issues directly from their phone.</a:t>
            </a:r>
          </a:p>
          <a:p>
            <a:endParaRPr/>
          </a:p>
          <a:p>
            <a:r>
              <a:t>2. AI Hotspot Prediction: Use historical complaint data to predict which areas are likely </a:t>
            </a:r>
          </a:p>
          <a:p>
            <a:r>
              <a:t>   to have problems, so authorities can take proactive action.</a:t>
            </a:r>
          </a:p>
          <a:p>
            <a:endParaRPr/>
          </a:p>
          <a:p>
            <a:r>
              <a:t>3. SMS Notifications: Send SMS updates to citizens who don't have smartphones.</a:t>
            </a:r>
          </a:p>
          <a:p>
            <a:endParaRPr/>
          </a:p>
          <a:p>
            <a:r>
              <a:t>4. Multilingual Support: Add Hindi and regional language support so more people can use the system.</a:t>
            </a:r>
          </a:p>
          <a:p>
            <a:endParaRPr/>
          </a:p>
          <a:p>
            <a:r>
              <a:t>5. Voice-Based Complaint: Let citizens speak their complaint instead of typing — </a:t>
            </a:r>
          </a:p>
          <a:p>
            <a:r>
              <a:t>   the AI converts speech to text and submits the complaint.</a:t>
            </a:r>
          </a:p>
          <a:p>
            <a:endParaRPr/>
          </a:p>
          <a:p>
            <a:r>
              <a:t>6. Auto-Assignment: Currently admin assigns complaints manually. </a:t>
            </a:r>
          </a:p>
          <a:p>
            <a:r>
              <a:t>   In the future, AI can automatically assign based on complaint category and department availability.</a:t>
            </a:r>
          </a:p>
          <a:p>
            <a:endParaRPr/>
          </a:p>
          <a:p>
            <a:r>
              <a:t>CLOSING STATEMENT:</a:t>
            </a:r>
          </a:p>
          <a:p>
            <a:r>
              <a:t>Resolvex shows how modern web technologies and AI can be combined to solve real-world civic problems.</a:t>
            </a:r>
          </a:p>
          <a:p>
            <a:r>
              <a:t>This project taught me full-stack development, API design, real-time communication, </a:t>
            </a:r>
          </a:p>
          <a:p>
            <a:r>
              <a:t>cloud services, and AI integration — all in one project.</a:t>
            </a:r>
          </a:p>
          <a:p>
            <a:endParaRPr/>
          </a:p>
          <a:p>
            <a:r>
              <a:t>Thank you for listening. I am happy to answer any questions.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27 — THANK YOU</a:t>
            </a:r>
          </a:p>
          <a:p>
            <a:endParaRPr dirty="0"/>
          </a:p>
          <a:p>
            <a:r>
              <a:rPr dirty="0"/>
              <a:t>What to say:</a:t>
            </a:r>
          </a:p>
          <a:p>
            <a:r>
              <a:rPr dirty="0"/>
              <a:t>Thank you for your attention!</a:t>
            </a:r>
          </a:p>
          <a:p>
            <a:endParaRPr dirty="0"/>
          </a:p>
          <a:p>
            <a:r>
              <a:rPr dirty="0"/>
              <a:t>Project: </a:t>
            </a:r>
            <a:r>
              <a:rPr dirty="0" err="1"/>
              <a:t>Resolvex</a:t>
            </a:r>
            <a:r>
              <a:rPr dirty="0"/>
              <a:t> — Civic Problem Management System</a:t>
            </a:r>
          </a:p>
          <a:p>
            <a:r>
              <a:rPr dirty="0"/>
              <a:t>Technology: React.js + Node.js + MongoDB + Google Gemini AI + Socket.io</a:t>
            </a:r>
          </a:p>
          <a:p>
            <a:endParaRPr dirty="0"/>
          </a:p>
          <a:p>
            <a:r>
              <a:rPr dirty="0"/>
              <a:t>Key Takeaways:</a:t>
            </a:r>
          </a:p>
          <a:p>
            <a:r>
              <a:rPr dirty="0"/>
              <a:t>1. This is a real-world, production-ready web application</a:t>
            </a:r>
          </a:p>
          <a:p>
            <a:r>
              <a:rPr dirty="0"/>
              <a:t>2. It solves a genuine civic problem faced by millions of Indian citizens</a:t>
            </a:r>
          </a:p>
          <a:p>
            <a:r>
              <a:rPr dirty="0"/>
              <a:t>3. AI makes the system smarter and easier to use</a:t>
            </a:r>
          </a:p>
          <a:p>
            <a:r>
              <a:rPr dirty="0"/>
              <a:t>4. Real-time notifications make it transparent and trustworthy</a:t>
            </a:r>
          </a:p>
          <a:p>
            <a:r>
              <a:rPr dirty="0"/>
              <a:t>5. The role-based system ensures security and accountability</a:t>
            </a:r>
          </a:p>
          <a:p>
            <a:endParaRPr dirty="0"/>
          </a:p>
          <a:p>
            <a:r>
              <a:rPr dirty="0"/>
              <a:t>I am now happy to take any questions you may have about:</a:t>
            </a:r>
          </a:p>
          <a:p>
            <a:r>
              <a:rPr dirty="0"/>
              <a:t>- The technology used</a:t>
            </a:r>
          </a:p>
          <a:p>
            <a:r>
              <a:rPr dirty="0"/>
              <a:t>- How any specific feature works</a:t>
            </a:r>
          </a:p>
          <a:p>
            <a:r>
              <a:rPr dirty="0"/>
              <a:t>- The database design</a:t>
            </a:r>
          </a:p>
          <a:p>
            <a:r>
              <a:rPr dirty="0"/>
              <a:t>- The AI integration</a:t>
            </a:r>
          </a:p>
          <a:p>
            <a:r>
              <a:rPr dirty="0"/>
              <a:t>- Challenges I faced</a:t>
            </a:r>
          </a:p>
          <a:p>
            <a:r>
              <a:rPr dirty="0"/>
              <a:t>- How to set up and run the project</a:t>
            </a:r>
          </a:p>
          <a:p>
            <a:endParaRPr dirty="0"/>
          </a:p>
          <a:p>
            <a:r>
              <a:rPr dirty="0"/>
              <a:t>Thank you!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RESOLVEX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78BFA"/>
                </a:solidFill>
                <a:latin typeface="Calibri"/>
              </a:rPr>
              <a:t>Civic Problem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566160"/>
            <a:ext cx="54864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0C8"/>
                </a:solidFill>
                <a:latin typeface="Calibri"/>
              </a:rPr>
              <a:t>Empowering Citizens  ·  Transforming Cities  ·  Powered by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C8"/>
                </a:solidFill>
                <a:latin typeface="Calibri"/>
              </a:rPr>
              <a:t>Full-Stack Web Application  |  React + Node.js + MongoDB +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257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C8"/>
                </a:solidFill>
                <a:latin typeface="Calibri"/>
              </a:rPr>
              <a:t>Presented by: Amit Saini  |  MCA  |  Kurukshetra University</a:t>
            </a:r>
          </a:p>
        </p:txBody>
      </p:sp>
      <p:pic>
        <p:nvPicPr>
          <p:cNvPr id="10" name="Picture 9" descr="Screenshot 2026-05-23 1802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97280"/>
            <a:ext cx="3291840" cy="4572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686800" y="1097280"/>
            <a:ext cx="3291840" cy="4572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shot 2026-05-23 1802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188720"/>
            <a:ext cx="3200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01  /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The Problem We Are Solving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743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651760" cy="3840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No Easy Way to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23774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B0B0C8"/>
                </a:solidFill>
                <a:latin typeface="Calibri"/>
              </a:rPr>
              <a:t>Citizens have no simple digital platform to report civic problems like potholes, broken streetlights, or water leaks.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1828800"/>
            <a:ext cx="2651760" cy="3840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56432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651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Manual &amp; Slow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3337560"/>
            <a:ext cx="23774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B0B0C8"/>
                </a:solidFill>
                <a:latin typeface="Calibri"/>
              </a:rPr>
              <a:t>Most cities still use paper forms or phone calls. There is no tracking system, so citizens never know what happened to their complaint.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828800"/>
            <a:ext cx="2651760" cy="3840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🏛️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651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Wrong Department Assignment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337560"/>
            <a:ext cx="23774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B0B0C8"/>
                </a:solidFill>
                <a:latin typeface="Calibri"/>
              </a:rPr>
              <a:t>Complaints often go to the wrong department because there is no automatic routing system — causing delays.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9136" y="1828800"/>
            <a:ext cx="2651760" cy="3840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72016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2651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No Data or 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3337560"/>
            <a:ext cx="2377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200" b="0" i="0" dirty="0">
                <a:solidFill>
                  <a:srgbClr val="B0B0C8"/>
                </a:solidFill>
                <a:latin typeface="Calibri"/>
              </a:rPr>
              <a:t>Authorities</a:t>
            </a:r>
            <a:r>
              <a:rPr lang="en-GB" sz="1200" b="0" i="0" dirty="0">
                <a:solidFill>
                  <a:srgbClr val="B0B0C8"/>
                </a:solidFill>
                <a:latin typeface="Calibri"/>
              </a:rPr>
              <a:t> </a:t>
            </a:r>
            <a:r>
              <a:rPr sz="1200" b="0" i="0" dirty="0">
                <a:solidFill>
                  <a:srgbClr val="B0B0C8"/>
                </a:solidFill>
                <a:latin typeface="Calibri"/>
              </a:rPr>
              <a:t>have no dashboard or analytics to see which areas have the most problems or which departments are slow.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02  /  PROJECT OBJECTIVE &amp;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Resolvex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743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3566160" cy="1920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🤖  AI Auto-Classification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3291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0C8"/>
                </a:solidFill>
                <a:latin typeface="Calibri"/>
              </a:rPr>
              <a:t>Automatically identifies the type and category of a complaint using Google Gemini AI.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828800"/>
            <a:ext cx="3566160" cy="1920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1965960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📍  Location Pinning on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514600"/>
            <a:ext cx="3291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C8"/>
                </a:solidFill>
                <a:latin typeface="Calibri"/>
              </a:rPr>
              <a:t>Citizens can pin the exact location of the problem on an interactive map powered by Leaflet.js.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828800"/>
            <a:ext cx="3566160" cy="1920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1965960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🔔  Real-Time 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14600"/>
            <a:ext cx="3291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C8"/>
                </a:solidFill>
                <a:latin typeface="Calibri"/>
              </a:rPr>
              <a:t>Live updates are sent to citizens when their complaint status changes — no refresh needed.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77640"/>
            <a:ext cx="3566160" cy="1920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A78BFA"/>
                </a:solidFill>
                <a:latin typeface="Calibri"/>
              </a:rPr>
              <a:t>📈  Admin Analytics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3291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C8"/>
                </a:solidFill>
                <a:latin typeface="Calibri"/>
              </a:rPr>
              <a:t>Admins see charts, KPI cards, SLA breach alerts, and complete complaint history.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977640"/>
            <a:ext cx="3566160" cy="1920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4114800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🏢  Department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663440"/>
            <a:ext cx="3291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C8"/>
                </a:solidFill>
                <a:latin typeface="Calibri"/>
              </a:rPr>
              <a:t>Admin can create departments and assign complaints directly to the right department.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3977640"/>
            <a:ext cx="3566160" cy="1920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4114800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📧  Email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663440"/>
            <a:ext cx="3291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C8"/>
                </a:solidFill>
                <a:latin typeface="Calibri"/>
              </a:rPr>
              <a:t>New users verify their email before they can use the system — ensures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03  / 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Languages &amp; Libraries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743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303520" cy="4572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⚛️  FRONTEND  (Client Side)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493776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0C8"/>
                </a:solidFill>
                <a:latin typeface="Calibri"/>
              </a:rPr>
              <a:t>• React.js:  JavaScript library to build the user interface (UI). Uses components and hooks.</a:t>
            </a:r>
            <a:endParaRPr lang="en-GB" sz="1400" b="0" i="0" dirty="0">
              <a:solidFill>
                <a:srgbClr val="B0B0C8"/>
              </a:solidFill>
              <a:latin typeface="Calibri"/>
            </a:endParaRPr>
          </a:p>
          <a:p>
            <a:r>
              <a:rPr lang="en-GB" sz="1400" dirty="0">
                <a:solidFill>
                  <a:srgbClr val="B0B0C8"/>
                </a:solidFill>
              </a:rPr>
              <a:t>• Vite:  Fast development build tool for React. Replaces Create React App.</a:t>
            </a:r>
          </a:p>
          <a:p>
            <a:r>
              <a:rPr lang="en-US" sz="1400" dirty="0">
                <a:solidFill>
                  <a:srgbClr val="B0B0C8"/>
                </a:solidFill>
              </a:rPr>
              <a:t>• React Router:  Manages navigation between pages (Login, Dashboard, etc.) without page reload.</a:t>
            </a:r>
          </a:p>
          <a:p>
            <a:r>
              <a:rPr lang="en-GB" sz="1400" dirty="0">
                <a:solidFill>
                  <a:srgbClr val="B0B0C8"/>
                </a:solidFill>
              </a:rPr>
              <a:t>• Axios:  Sends HTTP requests from the browser to the backend server (GET, POST, PUT, DELETE).</a:t>
            </a:r>
          </a:p>
          <a:p>
            <a:r>
              <a:rPr lang="en-GB" sz="1400" dirty="0">
                <a:solidFill>
                  <a:srgbClr val="B0B0C8"/>
                </a:solidFill>
              </a:rPr>
              <a:t>• Socket.io-client:  Connects to server for real-time notifications and live updates.</a:t>
            </a:r>
          </a:p>
          <a:p>
            <a:r>
              <a:rPr lang="en-GB" sz="1400" dirty="0">
                <a:solidFill>
                  <a:srgbClr val="B0B0C8"/>
                </a:solidFill>
              </a:rPr>
              <a:t>• Leaflet.js:  Shows interactive maps so users can pin exact problem locations.</a:t>
            </a:r>
          </a:p>
          <a:p>
            <a:r>
              <a:rPr lang="en-GB" sz="1400" dirty="0">
                <a:solidFill>
                  <a:srgbClr val="B0B0C8"/>
                </a:solidFill>
              </a:rPr>
              <a:t>• Recharts:  Creates beautiful charts and graphs in the Admin analytics dashboard.</a:t>
            </a:r>
          </a:p>
          <a:p>
            <a:r>
              <a:rPr lang="en-GB" sz="1400" dirty="0">
                <a:solidFill>
                  <a:srgbClr val="B0B0C8"/>
                </a:solidFill>
              </a:rPr>
              <a:t>• Framer Motion:  Adds smooth animations and transitions to UI elements.</a:t>
            </a:r>
          </a:p>
          <a:p>
            <a:r>
              <a:rPr lang="en-GB" sz="1400" dirty="0">
                <a:solidFill>
                  <a:srgbClr val="B0B0C8"/>
                </a:solidFill>
              </a:rPr>
              <a:t>• react-hot-toast:  Shows small notification popups (toast messages) to the user.</a:t>
            </a:r>
          </a:p>
          <a:p>
            <a:endParaRPr lang="en-GB" sz="1400" dirty="0">
              <a:solidFill>
                <a:srgbClr val="B0B0C8"/>
              </a:solidFill>
            </a:endParaRPr>
          </a:p>
          <a:p>
            <a:endParaRPr lang="en-GB" sz="1400" dirty="0">
              <a:solidFill>
                <a:srgbClr val="B0B0C8"/>
              </a:solidFill>
            </a:endParaRPr>
          </a:p>
          <a:p>
            <a:endParaRPr lang="en-US" sz="1400" dirty="0">
              <a:solidFill>
                <a:srgbClr val="B0B0C8"/>
              </a:solidFill>
            </a:endParaRPr>
          </a:p>
          <a:p>
            <a:endParaRPr lang="en-GB" sz="1400" dirty="0">
              <a:solidFill>
                <a:srgbClr val="B0B0C8"/>
              </a:solidFill>
            </a:endParaRPr>
          </a:p>
          <a:p>
            <a:pPr algn="l"/>
            <a:endParaRPr sz="1400" b="0" i="0" dirty="0">
              <a:solidFill>
                <a:srgbClr val="B0B0C8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5577840" cy="4572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  <a:latin typeface="Calibri"/>
              </a:rPr>
              <a:t>🟢  BACKEND  (Server Side)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23160"/>
            <a:ext cx="52120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0C8"/>
                </a:solidFill>
                <a:latin typeface="Calibri"/>
              </a:rPr>
              <a:t>• Node.js:  Runtime environment — runs JavaScript on the server side.</a:t>
            </a:r>
            <a:endParaRPr lang="en-GB" sz="1400" b="0" i="0" dirty="0">
              <a:solidFill>
                <a:srgbClr val="B0B0C8"/>
              </a:solidFill>
              <a:latin typeface="Calibri"/>
            </a:endParaRPr>
          </a:p>
          <a:p>
            <a:r>
              <a:rPr lang="en-GB" sz="1400" dirty="0">
                <a:solidFill>
                  <a:srgbClr val="B0B0C8"/>
                </a:solidFill>
              </a:rPr>
              <a:t>• Express.js:  Framework for Node.js that handles API routes and HTTP requests.</a:t>
            </a:r>
          </a:p>
          <a:p>
            <a:r>
              <a:rPr lang="en-GB" sz="1400" dirty="0">
                <a:solidFill>
                  <a:srgbClr val="B0B0C8"/>
                </a:solidFill>
              </a:rPr>
              <a:t>• Mongoose:  Library to define data models (schemas) for MongoDB and run queries easily.</a:t>
            </a:r>
          </a:p>
          <a:p>
            <a:r>
              <a:rPr lang="en-GB" sz="1400" dirty="0">
                <a:solidFill>
                  <a:srgbClr val="B0B0C8"/>
                </a:solidFill>
              </a:rPr>
              <a:t>• MongoDB:  NoSQL database — stores users, complaints, departments as JSON-like documents.</a:t>
            </a:r>
          </a:p>
          <a:p>
            <a:r>
              <a:rPr lang="en-GB" sz="1400" dirty="0">
                <a:solidFill>
                  <a:srgbClr val="B0B0C8"/>
                </a:solidFill>
              </a:rPr>
              <a:t>• JWT (</a:t>
            </a:r>
            <a:r>
              <a:rPr lang="en-GB" sz="1400" dirty="0" err="1">
                <a:solidFill>
                  <a:srgbClr val="B0B0C8"/>
                </a:solidFill>
              </a:rPr>
              <a:t>jsonwebtoken</a:t>
            </a:r>
            <a:r>
              <a:rPr lang="en-GB" sz="1400" dirty="0">
                <a:solidFill>
                  <a:srgbClr val="B0B0C8"/>
                </a:solidFill>
              </a:rPr>
              <a:t>):  Creates secure tokens for login — used for authentication.</a:t>
            </a:r>
          </a:p>
          <a:p>
            <a:r>
              <a:rPr lang="en-GB" sz="1400" dirty="0">
                <a:solidFill>
                  <a:srgbClr val="B0B0C8"/>
                </a:solidFill>
              </a:rPr>
              <a:t>• Socket.io:  Server-side real-time communication with clients (push notifications).</a:t>
            </a:r>
          </a:p>
          <a:p>
            <a:r>
              <a:rPr lang="en-GB" sz="1400" dirty="0">
                <a:solidFill>
                  <a:srgbClr val="B0B0C8"/>
                </a:solidFill>
              </a:rPr>
              <a:t>• Multer + </a:t>
            </a:r>
            <a:r>
              <a:rPr lang="en-GB" sz="1400" dirty="0" err="1">
                <a:solidFill>
                  <a:srgbClr val="B0B0C8"/>
                </a:solidFill>
              </a:rPr>
              <a:t>Cloudinary</a:t>
            </a:r>
            <a:r>
              <a:rPr lang="en-GB" sz="1400" dirty="0">
                <a:solidFill>
                  <a:srgbClr val="B0B0C8"/>
                </a:solidFill>
              </a:rPr>
              <a:t>:  Handles image/video file uploads and stores them on </a:t>
            </a:r>
            <a:r>
              <a:rPr lang="en-GB" sz="1400" dirty="0" err="1">
                <a:solidFill>
                  <a:srgbClr val="B0B0C8"/>
                </a:solidFill>
              </a:rPr>
              <a:t>Cloudinary</a:t>
            </a:r>
            <a:r>
              <a:rPr lang="en-GB" sz="1400" dirty="0">
                <a:solidFill>
                  <a:srgbClr val="B0B0C8"/>
                </a:solidFill>
              </a:rPr>
              <a:t> CDN.</a:t>
            </a:r>
          </a:p>
          <a:p>
            <a:r>
              <a:rPr lang="en-GB" sz="1400" dirty="0">
                <a:solidFill>
                  <a:srgbClr val="B0B0C8"/>
                </a:solidFill>
              </a:rPr>
              <a:t>• </a:t>
            </a:r>
            <a:r>
              <a:rPr lang="en-GB" sz="1400" dirty="0" err="1">
                <a:solidFill>
                  <a:srgbClr val="B0B0C8"/>
                </a:solidFill>
              </a:rPr>
              <a:t>Nodemailer</a:t>
            </a:r>
            <a:r>
              <a:rPr lang="en-GB" sz="1400" dirty="0">
                <a:solidFill>
                  <a:srgbClr val="B0B0C8"/>
                </a:solidFill>
              </a:rPr>
              <a:t>:  Sends emails for account verification and password reset.</a:t>
            </a:r>
          </a:p>
          <a:p>
            <a:r>
              <a:rPr lang="en-GB" sz="1400" dirty="0">
                <a:solidFill>
                  <a:srgbClr val="B0B0C8"/>
                </a:solidFill>
              </a:rPr>
              <a:t>• Google Gemini AI:  AI API for auto-classifying complaint category, priority, suggestions.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04  /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How the System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743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83664"/>
            <a:ext cx="3474720" cy="387705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7C3AED"/>
                </a:solidFill>
                <a:latin typeface="Calibri"/>
              </a:rPr>
              <a:t>🖥️ FRONTEND
(React + Vite)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3200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B0C8"/>
                </a:solidFill>
                <a:latin typeface="Calibri"/>
              </a:rPr>
              <a:t>• User Interface (UI)
• 3 Role-based Dashboards
• Interactive Maps (Leaflet)
• Real-time Notifications
• Charts (Recharts)
• Runs at: localhost:5173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657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828800"/>
            <a:ext cx="3474720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1883664"/>
            <a:ext cx="3474720" cy="387705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96596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E7C86"/>
                </a:solidFill>
                <a:latin typeface="Calibri"/>
              </a:rPr>
              <a:t>⚡ BACKEND
(Node.js + Express)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788920"/>
            <a:ext cx="32004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B0C8"/>
                </a:solidFill>
                <a:latin typeface="Calibri"/>
              </a:rPr>
              <a:t>• REST API Server
• JWT Authentication
• Role-based Access Control
• AI Classification (Gemini)
• File Upload (</a:t>
            </a:r>
            <a:r>
              <a:rPr sz="1600" b="0" i="0" dirty="0" err="1">
                <a:solidFill>
                  <a:srgbClr val="B0B0C8"/>
                </a:solidFill>
                <a:latin typeface="Calibri"/>
              </a:rPr>
              <a:t>Multer+Cloudinary</a:t>
            </a:r>
            <a:r>
              <a:rPr sz="1600" b="0" i="0" dirty="0">
                <a:solidFill>
                  <a:srgbClr val="B0B0C8"/>
                </a:solidFill>
                <a:latin typeface="Calibri"/>
              </a:rPr>
              <a:t>)
• Socket.io Real-time
• Cron Jobs (SLA Monitor)
• Runs at: localhost:5000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657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3474720" cy="54864"/>
          </a:xfrm>
          <a:prstGeom prst="rect">
            <a:avLst/>
          </a:prstGeom>
          <a:solidFill>
            <a:srgbClr val="28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883664"/>
            <a:ext cx="3474720" cy="387705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96596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288045"/>
                </a:solidFill>
                <a:latin typeface="Calibri"/>
              </a:rPr>
              <a:t>🗄️ DATABASE
(MongoDB Atlas)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88920"/>
            <a:ext cx="3200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B0B0C8"/>
                </a:solidFill>
                <a:latin typeface="Calibri"/>
              </a:rPr>
              <a:t>• Users Collection
• Complaints Collection
• Departments Collection
• Notifications Collection
• Stores all app data
• Cloud-hosted (Atlas)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0C8"/>
                </a:solidFill>
                <a:latin typeface="Calibri"/>
              </a:rPr>
              <a:t>External Services:  Cloudinary (image storage)  ·  Google Gemini AI (classification)  ·  Nodemailer (email)  ·  OpenStreetMap (maps)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05  /  USER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Three Types of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743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35661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83664"/>
            <a:ext cx="3566160" cy="44256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7C3AED"/>
                </a:solidFill>
                <a:latin typeface="Calibri"/>
              </a:rPr>
              <a:t>👨‍💼  </a:t>
            </a:r>
            <a:r>
              <a:rPr b="1" i="0" dirty="0">
                <a:solidFill>
                  <a:srgbClr val="7C3AED"/>
                </a:solidFill>
                <a:latin typeface="Calibri"/>
              </a:rPr>
              <a:t>CITIZEN</a:t>
            </a:r>
            <a:endParaRPr sz="1600" b="1" i="0" dirty="0">
              <a:solidFill>
                <a:srgbClr val="7C3AED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32918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B0C8"/>
                </a:solidFill>
                <a:latin typeface="Calibri"/>
              </a:rPr>
              <a:t>✓  Register &amp; verify email</a:t>
            </a:r>
            <a:endParaRPr lang="en-GB" sz="1600" b="0" i="0" dirty="0">
              <a:solidFill>
                <a:srgbClr val="B0B0C8"/>
              </a:solidFill>
              <a:latin typeface="Calibri"/>
            </a:endParaRPr>
          </a:p>
          <a:p>
            <a:r>
              <a:rPr lang="en-GB" sz="1600" dirty="0">
                <a:solidFill>
                  <a:srgbClr val="B0B0C8"/>
                </a:solidFill>
              </a:rPr>
              <a:t>✓  Report new complaints (with photos/videos)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✓  AI auto-classify complaints</a:t>
            </a:r>
          </a:p>
          <a:p>
            <a:r>
              <a:rPr lang="en-GB" sz="1600" dirty="0">
                <a:solidFill>
                  <a:srgbClr val="B0B0C8"/>
                </a:solidFill>
              </a:rPr>
              <a:t>✓  Pin problem location on map</a:t>
            </a:r>
          </a:p>
          <a:p>
            <a:r>
              <a:rPr lang="en-GB" sz="1600" dirty="0">
                <a:solidFill>
                  <a:srgbClr val="B0B0C8"/>
                </a:solidFill>
              </a:rPr>
              <a:t>✓  Track status of own complaints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✓  Upvote &amp; comment on complaints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✓  View complaint timeline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✓  Update personal profile</a:t>
            </a:r>
          </a:p>
          <a:p>
            <a:pPr algn="l"/>
            <a:endParaRPr sz="1600" b="0" i="0" dirty="0">
              <a:solidFill>
                <a:srgbClr val="B0B0C8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06240" y="1828800"/>
            <a:ext cx="356616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06240" y="1883664"/>
            <a:ext cx="3566160" cy="44256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196596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E67E22"/>
                </a:solidFill>
                <a:latin typeface="Calibri"/>
              </a:rPr>
              <a:t>⚙️ 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606040"/>
            <a:ext cx="3291840" cy="2223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B0C8"/>
                </a:solidFill>
                <a:latin typeface="Calibri"/>
              </a:rPr>
              <a:t>✓  View all system complaints</a:t>
            </a:r>
            <a:endParaRPr lang="en-GB" sz="1600" b="0" i="0" dirty="0">
              <a:solidFill>
                <a:srgbClr val="B0B0C8"/>
              </a:solidFill>
              <a:latin typeface="Calibri"/>
            </a:endParaRPr>
          </a:p>
          <a:p>
            <a:r>
              <a:rPr lang="en-US" sz="1600" dirty="0">
                <a:solidFill>
                  <a:srgbClr val="B0B0C8"/>
                </a:solidFill>
              </a:rPr>
              <a:t>✓  Assign complaints to departments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✓  Update complaint status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✓  Manage all users (block/unblock)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✓  Create &amp; manage departments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✓  View analytics &amp; charts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✓  Monitor SLA breaches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✓  Full system overview dashboard</a:t>
            </a:r>
          </a:p>
          <a:p>
            <a:pPr algn="l"/>
            <a:endParaRPr sz="1050" b="0" i="0" dirty="0">
              <a:solidFill>
                <a:srgbClr val="B0B0C8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046720" y="1828800"/>
            <a:ext cx="3566160" cy="5486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20" y="1883664"/>
            <a:ext cx="3566160" cy="44256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196596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8A745"/>
                </a:solidFill>
                <a:latin typeface="Calibri"/>
              </a:rPr>
              <a:t>🏢  DEPARTMENT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606040"/>
            <a:ext cx="32918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B0C8"/>
                </a:solidFill>
                <a:latin typeface="Calibri"/>
              </a:rPr>
              <a:t>✓  View complaints assigned to their dept</a:t>
            </a:r>
            <a:endParaRPr lang="en-GB" sz="1600" b="0" i="0" dirty="0">
              <a:solidFill>
                <a:srgbClr val="B0B0C8"/>
              </a:solidFill>
              <a:latin typeface="Calibri"/>
            </a:endParaRPr>
          </a:p>
          <a:p>
            <a:r>
              <a:rPr lang="en-GB" sz="1600" dirty="0">
                <a:solidFill>
                  <a:srgbClr val="B0B0C8"/>
                </a:solidFill>
              </a:rPr>
              <a:t>✓  Accept or reject a complaint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✓  Update work progress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✓  Upload proof images</a:t>
            </a:r>
          </a:p>
          <a:p>
            <a:r>
              <a:rPr lang="en-GB" sz="1600" dirty="0">
                <a:solidFill>
                  <a:srgbClr val="B0B0C8"/>
                </a:solidFill>
              </a:rPr>
              <a:t>✓  Mark complaint as complete/resolved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✓  View department performance stats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✓  Get real-time 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06  /  APPLICATION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Landing Page  —  Home Screen</a:t>
            </a:r>
          </a:p>
        </p:txBody>
      </p:sp>
      <p:pic>
        <p:nvPicPr>
          <p:cNvPr id="5" name="Picture 4" descr="Screenshot 2026-05-25 1614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1161288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0C8"/>
                </a:solidFill>
                <a:latin typeface="Calibri"/>
              </a:rPr>
              <a:t>Citizens are welcomed with a modern hero section featuring AI-Powered Routing · Precise Geolocation · Transparent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07  /  AUTHENTICATION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Login  &amp;  Sign Up</a:t>
            </a:r>
          </a:p>
        </p:txBody>
      </p:sp>
      <p:pic>
        <p:nvPicPr>
          <p:cNvPr id="5" name="Picture 4" descr="Screenshot 2026-05-25 2128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5760720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465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SIGN UP  — Create Account</a:t>
            </a:r>
          </a:p>
        </p:txBody>
      </p:sp>
      <p:pic>
        <p:nvPicPr>
          <p:cNvPr id="7" name="Picture 6" descr="Screenshot 2026-05-25 2128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188720"/>
            <a:ext cx="5715000" cy="5394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6446520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LOGIN  — Sign In to Your Account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08  /  CITIZEN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Citizen Dashboard</a:t>
            </a:r>
          </a:p>
        </p:txBody>
      </p:sp>
      <p:pic>
        <p:nvPicPr>
          <p:cNvPr id="5" name="Picture 4" descr="Screenshot 2026-05-25 2130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1161288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0C8"/>
                </a:solidFill>
                <a:latin typeface="Calibri"/>
              </a:rPr>
              <a:t>Citizens see: Total Complaints · Pending · In Progress · Resolved — with recent complaints list and Quick 'Raise New Complaint' button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09  /  RAISE A COMPLAINT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Complaint Form — Step 1: Details &amp; AI Classification</a:t>
            </a:r>
          </a:p>
        </p:txBody>
      </p:sp>
      <p:pic>
        <p:nvPicPr>
          <p:cNvPr id="5" name="Picture 4" descr="Screenshot 2026-05-25 2131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5760720" cy="5394960"/>
          </a:xfrm>
          <a:prstGeom prst="rect">
            <a:avLst/>
          </a:prstGeom>
        </p:spPr>
      </p:pic>
      <p:pic>
        <p:nvPicPr>
          <p:cNvPr id="6" name="Picture 5" descr="Screenshot 2026-05-25 2133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188720"/>
            <a:ext cx="571500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465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  <a:latin typeface="Calibri"/>
              </a:rPr>
              <a:t>STEP 1: Fill complaint details + AI Chatbot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46520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  <a:latin typeface="Calibri"/>
              </a:rPr>
              <a:t>AI Analyzes complaint: Confidence 85%, Category: Sanitation, Priority: Medium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10  /  RAISE A COMPLAINT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Step 2: Location Pin  &amp;  Step 3: Upload Media</a:t>
            </a:r>
          </a:p>
        </p:txBody>
      </p:sp>
      <p:pic>
        <p:nvPicPr>
          <p:cNvPr id="5" name="Picture 4" descr="Screenshot 2026-05-25 213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5760720" cy="5394960"/>
          </a:xfrm>
          <a:prstGeom prst="rect">
            <a:avLst/>
          </a:prstGeom>
        </p:spPr>
      </p:pic>
      <p:pic>
        <p:nvPicPr>
          <p:cNvPr id="6" name="Picture 5" descr="Screenshot 2026-05-25 2135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188720"/>
            <a:ext cx="571500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465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  <a:latin typeface="Calibri"/>
              </a:rPr>
              <a:t>STEP 2: Pin exact location on Leaflet interactive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46520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  <a:latin typeface="Calibri"/>
              </a:rPr>
              <a:t>STEP 3: Upload images (max 5) and videos (max 1, 30MB) as proof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11  /  COMPLAINT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Step 4: Review &amp; Submit  |  My Complaints List</a:t>
            </a:r>
          </a:p>
        </p:txBody>
      </p:sp>
      <p:pic>
        <p:nvPicPr>
          <p:cNvPr id="5" name="Picture 4" descr="Screenshot 2026-05-25 2151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5760720" cy="5394960"/>
          </a:xfrm>
          <a:prstGeom prst="rect">
            <a:avLst/>
          </a:prstGeom>
        </p:spPr>
      </p:pic>
      <p:pic>
        <p:nvPicPr>
          <p:cNvPr id="6" name="Picture 5" descr="Screenshot 2026-05-25 2152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188720"/>
            <a:ext cx="571500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465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  <a:latin typeface="Calibri"/>
              </a:rPr>
              <a:t>STEP 4: Review all details before final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46520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  <a:latin typeface="Calibri"/>
              </a:rPr>
              <a:t>MY COMPLAINTS: View all submitted complaints with status and filters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12  /  COMPLAINT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Complaint Detail View with Timeline &amp; Map</a:t>
            </a:r>
          </a:p>
        </p:txBody>
      </p:sp>
      <p:pic>
        <p:nvPicPr>
          <p:cNvPr id="5" name="Picture 4" descr="Screenshot 2026-05-25 2153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1161288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0C8"/>
                </a:solidFill>
                <a:latin typeface="Calibri"/>
              </a:rPr>
              <a:t>AI Smart Analysis · Location Map · Status Timeline (Submitted → Assigned → In Progress → Resolved) · SLA Details · Comments Section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13  /  USER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Citizen Profile Management</a:t>
            </a:r>
          </a:p>
        </p:txBody>
      </p:sp>
      <p:pic>
        <p:nvPicPr>
          <p:cNvPr id="5" name="Picture 4" descr="Screenshot 2026-05-25 2154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188720"/>
            <a:ext cx="539496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0C8"/>
                </a:solidFill>
                <a:latin typeface="Calibri"/>
              </a:rPr>
              <a:t>Citizens can update Full Name · Avatar URL · Phone · Address — with tabs for Profile, Security, and Notification preferences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14  /  ADMIN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Admin Dashboard — System Overview</a:t>
            </a:r>
          </a:p>
        </p:txBody>
      </p:sp>
      <p:pic>
        <p:nvPicPr>
          <p:cNvPr id="5" name="Picture 4" descr="Screenshot 2026-05-25 2156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1161288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0C8"/>
                </a:solidFill>
                <a:latin typeface="Calibri"/>
              </a:rPr>
              <a:t>Admin sees: Total Complaints · Pending · Resolved · SLA Breached · Assigned · Registered Citizens · Departments — plus Recent Complaints table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15  /  ADMIN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Admin — Manage Complaints &amp; Assign to Departments</a:t>
            </a:r>
          </a:p>
        </p:txBody>
      </p:sp>
      <p:pic>
        <p:nvPicPr>
          <p:cNvPr id="5" name="Picture 4" descr="Screenshot 2026-05-25 2156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5760720" cy="5394960"/>
          </a:xfrm>
          <a:prstGeom prst="rect">
            <a:avLst/>
          </a:prstGeom>
        </p:spPr>
      </p:pic>
      <p:pic>
        <p:nvPicPr>
          <p:cNvPr id="6" name="Picture 5" descr="Screenshot 2026-05-25 2157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188720"/>
            <a:ext cx="571500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465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  <a:latin typeface="Calibri"/>
              </a:rPr>
              <a:t>Manage Complaints: Search + Filter by Status/Category/Priority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46520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  <a:latin typeface="Calibri"/>
              </a:rPr>
              <a:t>Manage Modal: Assign Department + Update Status + Remarks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16  /  ADMIN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Admin — User Management</a:t>
            </a:r>
          </a:p>
        </p:txBody>
      </p:sp>
      <p:pic>
        <p:nvPicPr>
          <p:cNvPr id="5" name="Picture 4" descr="Screenshot 2026-05-25 2158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1161288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0C8"/>
                </a:solidFill>
                <a:latin typeface="Calibri"/>
              </a:rPr>
              <a:t>Admin can view all users: Name · Email · Role · Verified Status · Active Status · Join Date — with Block/Unblock action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17  /  ADMIN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Admin — Department Management</a:t>
            </a:r>
          </a:p>
        </p:txBody>
      </p:sp>
      <p:pic>
        <p:nvPicPr>
          <p:cNvPr id="5" name="Picture 4" descr="Screenshot 2026-05-25 2159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1161288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0C8"/>
                </a:solidFill>
                <a:latin typeface="Calibri"/>
              </a:rPr>
              <a:t>Admin creates departments (Name, Description, Email, Phone, Head, Categories) — shown in Department cards with assigned/resolved count + staff members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18  /  ADMIN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Admin Profile &amp; Account Settings</a:t>
            </a:r>
          </a:p>
        </p:txBody>
      </p:sp>
      <p:pic>
        <p:nvPicPr>
          <p:cNvPr id="5" name="Picture 4" descr="Screenshot 2026-05-25 220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188720"/>
            <a:ext cx="758952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0C8"/>
                </a:solidFill>
                <a:latin typeface="Calibri"/>
              </a:rPr>
              <a:t>Admin account shows ADMIN role badge — Profile, Security, and Notifications tabs — same interface as citizen profile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19  /  DEPARTMENT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Department — Assigned Complaints View</a:t>
            </a:r>
          </a:p>
        </p:txBody>
      </p:sp>
      <p:pic>
        <p:nvPicPr>
          <p:cNvPr id="5" name="Picture 4" descr="Screenshot 2026-05-25 2203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1161288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0C8"/>
                </a:solidFill>
                <a:latin typeface="Calibri"/>
              </a:rPr>
              <a:t>Department staff see only their assigned complaints — can Accept, Reject, Update Progress, Upload Proof Photos, and Mark as Complete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20  /  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AI Features — Powered by Google Gemini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5-23 2250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3200400" cy="5212080"/>
          </a:xfrm>
          <a:prstGeom prst="rect">
            <a:avLst/>
          </a:prstGeom>
        </p:spPr>
      </p:pic>
      <p:pic>
        <p:nvPicPr>
          <p:cNvPr id="7" name="Picture 6" descr="Screenshot 2026-05-25 2133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371600"/>
            <a:ext cx="5029200" cy="5212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35440" y="1371600"/>
            <a:ext cx="274320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0" y="1508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🤖  AI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C8"/>
                </a:solidFill>
                <a:latin typeface="Calibri"/>
              </a:rPr>
              <a:t>✦ Auto-classify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C8"/>
                </a:solidFill>
                <a:latin typeface="Calibri"/>
              </a:rPr>
              <a:t>✦ Suggest priority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C8"/>
                </a:solidFill>
                <a:latin typeface="Calibri"/>
              </a:rPr>
              <a:t>✦ Confidence score (85%)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154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C8"/>
                </a:solidFill>
                <a:latin typeface="Calibri"/>
              </a:rPr>
              <a:t>✦ Give improvement tips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520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C8"/>
                </a:solidFill>
                <a:latin typeface="Calibri"/>
              </a:rPr>
              <a:t>✦ AI Chatbot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C8"/>
                </a:solidFill>
                <a:latin typeface="Calibri"/>
              </a:rPr>
              <a:t>✦ Answer citizen queries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C8"/>
                </a:solidFill>
                <a:latin typeface="Calibri"/>
              </a:rPr>
              <a:t>✦ Works via /api/ai/*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617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0C8"/>
                </a:solidFill>
                <a:latin typeface="Calibri"/>
              </a:rPr>
              <a:t>✦ Powered by Gemini API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21  / 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MongoDB Data Models (Collections)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743200" cy="4297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27048"/>
            <a:ext cx="256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A78BFA"/>
                </a:solidFill>
                <a:latin typeface="Calibri"/>
              </a:rPr>
              <a:t>👤 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75688"/>
            <a:ext cx="25603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B0C8"/>
                </a:solidFill>
                <a:latin typeface="Calibri"/>
              </a:rPr>
              <a:t>• name, email, password (hashed)</a:t>
            </a:r>
            <a:endParaRPr lang="en-GB" sz="1600" b="0" i="0" dirty="0">
              <a:solidFill>
                <a:srgbClr val="B0B0C8"/>
              </a:solidFill>
              <a:latin typeface="Calibri"/>
            </a:endParaRPr>
          </a:p>
          <a:p>
            <a:r>
              <a:rPr lang="en-US" sz="1600" dirty="0">
                <a:solidFill>
                  <a:srgbClr val="B0B0C8"/>
                </a:solidFill>
              </a:rPr>
              <a:t>• role: citizen | admin | department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• </a:t>
            </a:r>
            <a:r>
              <a:rPr lang="en-US" sz="1600" dirty="0" err="1">
                <a:solidFill>
                  <a:srgbClr val="B0B0C8"/>
                </a:solidFill>
              </a:rPr>
              <a:t>isVerified</a:t>
            </a:r>
            <a:r>
              <a:rPr lang="en-US" sz="1600" dirty="0">
                <a:solidFill>
                  <a:srgbClr val="B0B0C8"/>
                </a:solidFill>
              </a:rPr>
              <a:t> (email verified?)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• </a:t>
            </a:r>
            <a:r>
              <a:rPr lang="en-US" sz="1600" dirty="0" err="1">
                <a:solidFill>
                  <a:srgbClr val="B0B0C8"/>
                </a:solidFill>
              </a:rPr>
              <a:t>isBlocked</a:t>
            </a:r>
            <a:r>
              <a:rPr lang="en-US" sz="1600" dirty="0">
                <a:solidFill>
                  <a:srgbClr val="B0B0C8"/>
                </a:solidFill>
              </a:rPr>
              <a:t>, phone, address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• </a:t>
            </a:r>
            <a:r>
              <a:rPr lang="en-US" sz="1600" dirty="0" err="1">
                <a:solidFill>
                  <a:srgbClr val="B0B0C8"/>
                </a:solidFill>
              </a:rPr>
              <a:t>verificationToken</a:t>
            </a:r>
            <a:r>
              <a:rPr lang="en-US" sz="1600" dirty="0">
                <a:solidFill>
                  <a:srgbClr val="B0B0C8"/>
                </a:solidFill>
              </a:rPr>
              <a:t>, </a:t>
            </a:r>
            <a:r>
              <a:rPr lang="en-US" sz="1600" dirty="0" err="1">
                <a:solidFill>
                  <a:srgbClr val="B0B0C8"/>
                </a:solidFill>
              </a:rPr>
              <a:t>resetToken</a:t>
            </a:r>
            <a:endParaRPr lang="en-US" sz="1600" dirty="0">
              <a:solidFill>
                <a:srgbClr val="B0B0C8"/>
              </a:solidFill>
            </a:endParaRPr>
          </a:p>
          <a:p>
            <a:r>
              <a:rPr lang="en-US" sz="1600" dirty="0">
                <a:solidFill>
                  <a:srgbClr val="B0B0C8"/>
                </a:solidFill>
              </a:rPr>
              <a:t>• </a:t>
            </a:r>
            <a:r>
              <a:rPr lang="en-US" sz="1600" dirty="0" err="1">
                <a:solidFill>
                  <a:srgbClr val="B0B0C8"/>
                </a:solidFill>
              </a:rPr>
              <a:t>lastLogin</a:t>
            </a:r>
            <a:r>
              <a:rPr lang="en-US" sz="1600" dirty="0">
                <a:solidFill>
                  <a:srgbClr val="B0B0C8"/>
                </a:solidFill>
              </a:rPr>
              <a:t>, </a:t>
            </a:r>
            <a:r>
              <a:rPr lang="en-US" sz="1600" dirty="0" err="1">
                <a:solidFill>
                  <a:srgbClr val="B0B0C8"/>
                </a:solidFill>
              </a:rPr>
              <a:t>createdAt</a:t>
            </a:r>
            <a:endParaRPr lang="en-US" sz="1600" dirty="0">
              <a:solidFill>
                <a:srgbClr val="B0B0C8"/>
              </a:solidFill>
            </a:endParaRPr>
          </a:p>
          <a:p>
            <a:pPr algn="l"/>
            <a:endParaRPr sz="1600" b="0" i="0" dirty="0">
              <a:solidFill>
                <a:srgbClr val="B0B0C8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37560" y="1417320"/>
            <a:ext cx="2743200" cy="4297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1527048"/>
            <a:ext cx="256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A78BFA"/>
                </a:solidFill>
                <a:latin typeface="Calibri"/>
              </a:rPr>
              <a:t>📝  Complaint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075688"/>
            <a:ext cx="256032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0C8"/>
                </a:solidFill>
                <a:latin typeface="Calibri"/>
              </a:rPr>
              <a:t>• title, description, category</a:t>
            </a:r>
            <a:endParaRPr lang="en-GB" sz="1400" b="0" i="0" dirty="0">
              <a:solidFill>
                <a:srgbClr val="B0B0C8"/>
              </a:solidFill>
              <a:latin typeface="Calibri"/>
            </a:endParaRPr>
          </a:p>
          <a:p>
            <a:r>
              <a:rPr lang="en-US" sz="1400" dirty="0">
                <a:solidFill>
                  <a:srgbClr val="B0B0C8"/>
                </a:solidFill>
              </a:rPr>
              <a:t>• priority: low | medium | high</a:t>
            </a:r>
          </a:p>
          <a:p>
            <a:r>
              <a:rPr lang="en-US" sz="1400" dirty="0">
                <a:solidFill>
                  <a:srgbClr val="B0B0C8"/>
                </a:solidFill>
              </a:rPr>
              <a:t>• status: pending | assigned | ...</a:t>
            </a:r>
          </a:p>
          <a:p>
            <a:r>
              <a:rPr lang="en-GB" sz="1400" dirty="0">
                <a:solidFill>
                  <a:srgbClr val="B0B0C8"/>
                </a:solidFill>
              </a:rPr>
              <a:t>• citizen (User ref), </a:t>
            </a:r>
            <a:r>
              <a:rPr lang="en-GB" sz="1400" dirty="0" err="1">
                <a:solidFill>
                  <a:srgbClr val="B0B0C8"/>
                </a:solidFill>
              </a:rPr>
              <a:t>assignedTo</a:t>
            </a:r>
            <a:r>
              <a:rPr lang="en-GB" sz="1400" dirty="0">
                <a:solidFill>
                  <a:srgbClr val="B0B0C8"/>
                </a:solidFill>
              </a:rPr>
              <a:t> (Dept ref)</a:t>
            </a:r>
          </a:p>
          <a:p>
            <a:r>
              <a:rPr lang="en-US" sz="1400" dirty="0">
                <a:solidFill>
                  <a:srgbClr val="B0B0C8"/>
                </a:solidFill>
              </a:rPr>
              <a:t>• location: { </a:t>
            </a:r>
            <a:r>
              <a:rPr lang="en-US" sz="1400" dirty="0" err="1">
                <a:solidFill>
                  <a:srgbClr val="B0B0C8"/>
                </a:solidFill>
              </a:rPr>
              <a:t>lat</a:t>
            </a:r>
            <a:r>
              <a:rPr lang="en-US" sz="1400" dirty="0">
                <a:solidFill>
                  <a:srgbClr val="B0B0C8"/>
                </a:solidFill>
              </a:rPr>
              <a:t>, </a:t>
            </a:r>
            <a:r>
              <a:rPr lang="en-US" sz="1400" dirty="0" err="1">
                <a:solidFill>
                  <a:srgbClr val="B0B0C8"/>
                </a:solidFill>
              </a:rPr>
              <a:t>lng</a:t>
            </a:r>
            <a:r>
              <a:rPr lang="en-US" sz="1400" dirty="0">
                <a:solidFill>
                  <a:srgbClr val="B0B0C8"/>
                </a:solidFill>
              </a:rPr>
              <a:t>, address }</a:t>
            </a:r>
          </a:p>
          <a:p>
            <a:r>
              <a:rPr lang="en-US" sz="1400" dirty="0">
                <a:solidFill>
                  <a:srgbClr val="B0B0C8"/>
                </a:solidFill>
              </a:rPr>
              <a:t>• images[], videos[], upvotes[]</a:t>
            </a:r>
          </a:p>
          <a:p>
            <a:r>
              <a:rPr lang="en-US" sz="1400" dirty="0">
                <a:solidFill>
                  <a:srgbClr val="B0B0C8"/>
                </a:solidFill>
              </a:rPr>
              <a:t>• comments[], timeline[], </a:t>
            </a:r>
            <a:r>
              <a:rPr lang="en-US" sz="1400" dirty="0" err="1">
                <a:solidFill>
                  <a:srgbClr val="B0B0C8"/>
                </a:solidFill>
              </a:rPr>
              <a:t>slaDeadline</a:t>
            </a:r>
            <a:endParaRPr lang="en-US" sz="1400" dirty="0">
              <a:solidFill>
                <a:srgbClr val="B0B0C8"/>
              </a:solidFill>
            </a:endParaRPr>
          </a:p>
          <a:p>
            <a:r>
              <a:rPr lang="en-US" sz="1400" dirty="0">
                <a:solidFill>
                  <a:srgbClr val="B0B0C8"/>
                </a:solidFill>
              </a:rPr>
              <a:t>• </a:t>
            </a:r>
            <a:r>
              <a:rPr lang="en-US" sz="1400" dirty="0" err="1">
                <a:solidFill>
                  <a:srgbClr val="B0B0C8"/>
                </a:solidFill>
              </a:rPr>
              <a:t>aiSuggestion</a:t>
            </a:r>
            <a:r>
              <a:rPr lang="en-US" sz="1400" dirty="0">
                <a:solidFill>
                  <a:srgbClr val="B0B0C8"/>
                </a:solidFill>
              </a:rPr>
              <a:t>, </a:t>
            </a:r>
            <a:r>
              <a:rPr lang="en-US" sz="1400" dirty="0" err="1">
                <a:solidFill>
                  <a:srgbClr val="B0B0C8"/>
                </a:solidFill>
              </a:rPr>
              <a:t>isAnonymous</a:t>
            </a:r>
            <a:endParaRPr lang="en-US" sz="1400" dirty="0">
              <a:solidFill>
                <a:srgbClr val="B0B0C8"/>
              </a:solidFill>
            </a:endParaRPr>
          </a:p>
          <a:p>
            <a:pPr algn="l"/>
            <a:endParaRPr sz="1600" b="0" i="0" dirty="0">
              <a:solidFill>
                <a:srgbClr val="B0B0C8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09360" y="1417320"/>
            <a:ext cx="2743200" cy="4297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141732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1527048"/>
            <a:ext cx="256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A78BFA"/>
                </a:solidFill>
                <a:latin typeface="Calibri"/>
              </a:rPr>
              <a:t>🏢  Department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075688"/>
            <a:ext cx="256032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B0C8"/>
                </a:solidFill>
                <a:latin typeface="Calibri"/>
              </a:rPr>
              <a:t>• name, description, email, phone</a:t>
            </a:r>
            <a:endParaRPr lang="en-GB" sz="1600" b="0" i="0" dirty="0">
              <a:solidFill>
                <a:srgbClr val="B0B0C8"/>
              </a:solidFill>
              <a:latin typeface="Calibri"/>
            </a:endParaRPr>
          </a:p>
          <a:p>
            <a:r>
              <a:rPr lang="en-US" sz="1600" dirty="0">
                <a:solidFill>
                  <a:srgbClr val="B0B0C8"/>
                </a:solidFill>
              </a:rPr>
              <a:t>• categories[] (types handled)</a:t>
            </a:r>
          </a:p>
          <a:p>
            <a:r>
              <a:rPr lang="en-GB" sz="1600" dirty="0">
                <a:solidFill>
                  <a:srgbClr val="B0B0C8"/>
                </a:solidFill>
              </a:rPr>
              <a:t>• head (User ref), members[] (User refs)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• </a:t>
            </a:r>
            <a:r>
              <a:rPr lang="en-US" sz="1600" dirty="0" err="1">
                <a:solidFill>
                  <a:srgbClr val="B0B0C8"/>
                </a:solidFill>
              </a:rPr>
              <a:t>totalAssigned</a:t>
            </a:r>
            <a:r>
              <a:rPr lang="en-US" sz="1600" dirty="0">
                <a:solidFill>
                  <a:srgbClr val="B0B0C8"/>
                </a:solidFill>
              </a:rPr>
              <a:t>, </a:t>
            </a:r>
            <a:r>
              <a:rPr lang="en-US" sz="1600" dirty="0" err="1">
                <a:solidFill>
                  <a:srgbClr val="B0B0C8"/>
                </a:solidFill>
              </a:rPr>
              <a:t>totalResolved</a:t>
            </a:r>
            <a:endParaRPr lang="en-US" sz="1600" dirty="0">
              <a:solidFill>
                <a:srgbClr val="B0B0C8"/>
              </a:solidFill>
            </a:endParaRPr>
          </a:p>
          <a:p>
            <a:pPr algn="l"/>
            <a:endParaRPr sz="1000" b="0" i="0" dirty="0">
              <a:solidFill>
                <a:srgbClr val="B0B0C8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281160" y="1417320"/>
            <a:ext cx="2743200" cy="4297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281160" y="141732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18320" y="1527048"/>
            <a:ext cx="256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A78BFA"/>
                </a:solidFill>
                <a:latin typeface="Calibri"/>
              </a:rPr>
              <a:t>🔔  Notification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075688"/>
            <a:ext cx="256032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B0C8"/>
                </a:solidFill>
                <a:latin typeface="Calibri"/>
              </a:rPr>
              <a:t>• user (User ref)</a:t>
            </a:r>
            <a:endParaRPr lang="en-GB" sz="1600" b="0" i="0" dirty="0">
              <a:solidFill>
                <a:srgbClr val="B0B0C8"/>
              </a:solidFill>
              <a:latin typeface="Calibri"/>
            </a:endParaRPr>
          </a:p>
          <a:p>
            <a:r>
              <a:rPr lang="en-US" sz="1600" dirty="0">
                <a:solidFill>
                  <a:srgbClr val="B0B0C8"/>
                </a:solidFill>
              </a:rPr>
              <a:t>• title, message</a:t>
            </a:r>
          </a:p>
          <a:p>
            <a:r>
              <a:rPr lang="nb-NO" sz="1600" dirty="0">
                <a:solidFill>
                  <a:srgbClr val="B0B0C8"/>
                </a:solidFill>
              </a:rPr>
              <a:t>• type (status_update, assigned, etc.)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• </a:t>
            </a:r>
            <a:r>
              <a:rPr lang="en-US" sz="1600" dirty="0" err="1">
                <a:solidFill>
                  <a:srgbClr val="B0B0C8"/>
                </a:solidFill>
              </a:rPr>
              <a:t>isRead</a:t>
            </a:r>
            <a:r>
              <a:rPr lang="en-US" sz="1600" dirty="0">
                <a:solidFill>
                  <a:srgbClr val="B0B0C8"/>
                </a:solidFill>
              </a:rPr>
              <a:t> (</a:t>
            </a:r>
            <a:r>
              <a:rPr lang="en-US" sz="1600" dirty="0" err="1">
                <a:solidFill>
                  <a:srgbClr val="B0B0C8"/>
                </a:solidFill>
              </a:rPr>
              <a:t>boolean</a:t>
            </a:r>
            <a:r>
              <a:rPr lang="en-US" sz="1600" dirty="0">
                <a:solidFill>
                  <a:srgbClr val="B0B0C8"/>
                </a:solidFill>
              </a:rPr>
              <a:t>)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• </a:t>
            </a:r>
            <a:r>
              <a:rPr lang="en-US" sz="1600" dirty="0" err="1">
                <a:solidFill>
                  <a:srgbClr val="B0B0C8"/>
                </a:solidFill>
              </a:rPr>
              <a:t>complaintId</a:t>
            </a:r>
            <a:r>
              <a:rPr lang="en-US" sz="1600" dirty="0">
                <a:solidFill>
                  <a:srgbClr val="B0B0C8"/>
                </a:solidFill>
              </a:rPr>
              <a:t> (Complaint ref)</a:t>
            </a:r>
          </a:p>
          <a:p>
            <a:r>
              <a:rPr lang="en-US" sz="1600" dirty="0">
                <a:solidFill>
                  <a:srgbClr val="B0B0C8"/>
                </a:solidFill>
              </a:rPr>
              <a:t>• </a:t>
            </a:r>
            <a:r>
              <a:rPr lang="en-US" sz="1600" dirty="0" err="1">
                <a:solidFill>
                  <a:srgbClr val="B0B0C8"/>
                </a:solidFill>
              </a:rPr>
              <a:t>createdAt</a:t>
            </a:r>
            <a:endParaRPr lang="en-US" sz="1600" dirty="0">
              <a:solidFill>
                <a:srgbClr val="B0B0C8"/>
              </a:solidFill>
            </a:endParaRPr>
          </a:p>
          <a:p>
            <a:pPr algn="l"/>
            <a:endParaRPr sz="1000" b="0" i="0" dirty="0">
              <a:solidFill>
                <a:srgbClr val="B0B0C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22  /  API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REST API Routes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4572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606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🔑  AUTH  (/api/auth)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260604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0C8"/>
                </a:solidFill>
                <a:latin typeface="Calibri"/>
              </a:rPr>
              <a:t>POST /register — Create account</a:t>
            </a:r>
            <a:endParaRPr lang="en-GB" sz="1400" b="0" i="0" dirty="0">
              <a:solidFill>
                <a:srgbClr val="B0B0C8"/>
              </a:solidFill>
              <a:latin typeface="Calibri"/>
            </a:endParaRPr>
          </a:p>
          <a:p>
            <a:r>
              <a:rPr lang="en-GB" sz="1400" dirty="0">
                <a:solidFill>
                  <a:srgbClr val="B0B0C8"/>
                </a:solidFill>
              </a:rPr>
              <a:t>POST /login —a Get JWT token</a:t>
            </a:r>
          </a:p>
          <a:p>
            <a:r>
              <a:rPr lang="en-GB" sz="1400" dirty="0">
                <a:solidFill>
                  <a:srgbClr val="B0B0C8"/>
                </a:solidFill>
              </a:rPr>
              <a:t>GET  /verify-email/:token — Verify email</a:t>
            </a:r>
          </a:p>
          <a:p>
            <a:r>
              <a:rPr lang="en-GB" sz="1400" dirty="0">
                <a:solidFill>
                  <a:srgbClr val="B0B0C8"/>
                </a:solidFill>
              </a:rPr>
              <a:t>POST /forgot-password — Send reset email</a:t>
            </a:r>
          </a:p>
          <a:p>
            <a:r>
              <a:rPr lang="en-US" sz="1400" dirty="0">
                <a:solidFill>
                  <a:srgbClr val="B0B0C8"/>
                </a:solidFill>
              </a:rPr>
              <a:t>POST /reset-password/:token — Reset password</a:t>
            </a:r>
          </a:p>
          <a:p>
            <a:r>
              <a:rPr lang="en-GB" sz="1400" dirty="0">
                <a:solidFill>
                  <a:srgbClr val="B0B0C8"/>
                </a:solidFill>
              </a:rPr>
              <a:t>GET  /me — Get my profile (protected)</a:t>
            </a:r>
          </a:p>
          <a:p>
            <a:r>
              <a:rPr lang="en-GB" sz="1400" dirty="0">
                <a:solidFill>
                  <a:srgbClr val="B0B0C8"/>
                </a:solidFill>
              </a:rPr>
              <a:t>PUT  /profile — Update profile (protected)</a:t>
            </a:r>
          </a:p>
          <a:p>
            <a:pPr algn="l"/>
            <a:endParaRPr sz="1400" b="0" i="0" dirty="0">
              <a:solidFill>
                <a:srgbClr val="B0B0C8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37560" y="1371600"/>
            <a:ext cx="2743200" cy="4572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37560" y="137160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1463040"/>
            <a:ext cx="2606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A78BFA"/>
                </a:solidFill>
                <a:latin typeface="Calibri"/>
              </a:rPr>
              <a:t>📋  COMPLAINTS  (/</a:t>
            </a:r>
            <a:r>
              <a:rPr sz="1400" b="1" i="0" dirty="0" err="1">
                <a:solidFill>
                  <a:srgbClr val="A78BFA"/>
                </a:solidFill>
                <a:latin typeface="Calibri"/>
              </a:rPr>
              <a:t>api</a:t>
            </a:r>
            <a:r>
              <a:rPr sz="1400" b="1" i="0" dirty="0">
                <a:solidFill>
                  <a:srgbClr val="A78BFA"/>
                </a:solidFill>
                <a:latin typeface="Calibri"/>
              </a:rPr>
              <a:t>/complaints)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057400"/>
            <a:ext cx="26060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0C8"/>
                </a:solidFill>
                <a:latin typeface="Calibri"/>
              </a:rPr>
              <a:t>GET    / — List complaints (protected)</a:t>
            </a:r>
            <a:endParaRPr lang="en-GB" sz="1400" b="0" i="0" dirty="0">
              <a:solidFill>
                <a:srgbClr val="B0B0C8"/>
              </a:solidFill>
              <a:latin typeface="Calibri"/>
            </a:endParaRPr>
          </a:p>
          <a:p>
            <a:r>
              <a:rPr lang="en-US" sz="1400" dirty="0">
                <a:solidFill>
                  <a:srgbClr val="B0B0C8"/>
                </a:solidFill>
              </a:rPr>
              <a:t>POST   / — Create complaint (citizen)</a:t>
            </a:r>
          </a:p>
          <a:p>
            <a:r>
              <a:rPr lang="en-GB" sz="1400" dirty="0">
                <a:solidFill>
                  <a:srgbClr val="B0B0C8"/>
                </a:solidFill>
              </a:rPr>
              <a:t>GET    /:id — Get single complaint</a:t>
            </a:r>
          </a:p>
          <a:p>
            <a:r>
              <a:rPr lang="en-GB" sz="1400" dirty="0">
                <a:solidFill>
                  <a:srgbClr val="B0B0C8"/>
                </a:solidFill>
              </a:rPr>
              <a:t>PUT    /:id/status — Update status</a:t>
            </a:r>
          </a:p>
          <a:p>
            <a:r>
              <a:rPr lang="en-GB" sz="1400" dirty="0">
                <a:solidFill>
                  <a:srgbClr val="B0B0C8"/>
                </a:solidFill>
              </a:rPr>
              <a:t>PUT    /:id/assign — Assign dept (admin)</a:t>
            </a:r>
          </a:p>
          <a:p>
            <a:r>
              <a:rPr lang="en-GB" sz="1400" dirty="0">
                <a:solidFill>
                  <a:srgbClr val="B0B0C8"/>
                </a:solidFill>
              </a:rPr>
              <a:t>POST   /:id/upvote — Toggle upvote</a:t>
            </a:r>
          </a:p>
          <a:p>
            <a:r>
              <a:rPr lang="en-US" sz="1400" dirty="0">
                <a:solidFill>
                  <a:srgbClr val="B0B0C8"/>
                </a:solidFill>
              </a:rPr>
              <a:t>POST   /:id/comment — Add comment</a:t>
            </a:r>
          </a:p>
          <a:p>
            <a:r>
              <a:rPr lang="en-US" sz="1400" dirty="0">
                <a:solidFill>
                  <a:srgbClr val="B0B0C8"/>
                </a:solidFill>
              </a:rPr>
              <a:t>GET    /heatmap — Map data</a:t>
            </a:r>
          </a:p>
          <a:p>
            <a:pPr algn="l"/>
            <a:endParaRPr sz="1400" b="0" i="0" dirty="0">
              <a:solidFill>
                <a:srgbClr val="B0B0C8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309360" y="1371600"/>
            <a:ext cx="2743200" cy="4572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137160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1463040"/>
            <a:ext cx="2606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⚙️  ADMIN  (/api/admin)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057400"/>
            <a:ext cx="26060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0C8"/>
                </a:solidFill>
                <a:latin typeface="Calibri"/>
              </a:rPr>
              <a:t>GET /dashboard — Analytics overview</a:t>
            </a:r>
            <a:endParaRPr lang="en-GB" sz="1400" b="0" i="0" dirty="0">
              <a:solidFill>
                <a:srgbClr val="B0B0C8"/>
              </a:solidFill>
              <a:latin typeface="Calibri"/>
            </a:endParaRPr>
          </a:p>
          <a:p>
            <a:r>
              <a:rPr lang="en-US" sz="1400" dirty="0">
                <a:solidFill>
                  <a:srgbClr val="B0B0C8"/>
                </a:solidFill>
              </a:rPr>
              <a:t>GET /complaints — All complaints</a:t>
            </a:r>
          </a:p>
          <a:p>
            <a:r>
              <a:rPr lang="en-US" sz="1400" dirty="0">
                <a:solidFill>
                  <a:srgbClr val="B0B0C8"/>
                </a:solidFill>
              </a:rPr>
              <a:t>GET /users — All users</a:t>
            </a:r>
          </a:p>
          <a:p>
            <a:r>
              <a:rPr lang="en-GB" sz="1400" dirty="0">
                <a:solidFill>
                  <a:srgbClr val="B0B0C8"/>
                </a:solidFill>
              </a:rPr>
              <a:t>PUT /users/:id/block — Block user</a:t>
            </a:r>
          </a:p>
          <a:p>
            <a:r>
              <a:rPr lang="en-US" sz="1400" dirty="0">
                <a:solidFill>
                  <a:srgbClr val="B0B0C8"/>
                </a:solidFill>
              </a:rPr>
              <a:t>GET /departments — List departments</a:t>
            </a:r>
          </a:p>
          <a:p>
            <a:r>
              <a:rPr lang="en-US" sz="1400" dirty="0">
                <a:solidFill>
                  <a:srgbClr val="B0B0C8"/>
                </a:solidFill>
              </a:rPr>
              <a:t>POST /departments — Create dept</a:t>
            </a:r>
          </a:p>
          <a:p>
            <a:r>
              <a:rPr lang="en-US" sz="1400" dirty="0">
                <a:solidFill>
                  <a:srgbClr val="B0B0C8"/>
                </a:solidFill>
              </a:rPr>
              <a:t>GET /</a:t>
            </a:r>
            <a:r>
              <a:rPr lang="en-US" sz="1400" dirty="0" err="1">
                <a:solidFill>
                  <a:srgbClr val="B0B0C8"/>
                </a:solidFill>
              </a:rPr>
              <a:t>sla</a:t>
            </a:r>
            <a:r>
              <a:rPr lang="en-US" sz="1400" dirty="0">
                <a:solidFill>
                  <a:srgbClr val="B0B0C8"/>
                </a:solidFill>
              </a:rPr>
              <a:t> — SLA breach report</a:t>
            </a:r>
          </a:p>
          <a:p>
            <a:r>
              <a:rPr lang="en-US" sz="1400" dirty="0">
                <a:solidFill>
                  <a:srgbClr val="B0B0C8"/>
                </a:solidFill>
              </a:rPr>
              <a:t>GET /analytics — Detailed charts</a:t>
            </a:r>
          </a:p>
          <a:p>
            <a:pPr algn="l"/>
            <a:endParaRPr sz="1400" b="0" i="0" dirty="0">
              <a:solidFill>
                <a:srgbClr val="B0B0C8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281160" y="1371600"/>
            <a:ext cx="2743200" cy="4572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281160" y="137160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72600" y="1463040"/>
            <a:ext cx="2606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A78BFA"/>
                </a:solidFill>
                <a:latin typeface="Calibri"/>
              </a:rPr>
              <a:t>🏢  DEPT  +  🔔  NOTIF  +  🤖 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2057400"/>
            <a:ext cx="26060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0C8"/>
                </a:solidFill>
                <a:latin typeface="Calibri"/>
              </a:rPr>
              <a:t>GET  /dept/assigned — My complaints</a:t>
            </a:r>
            <a:endParaRPr lang="en-GB" sz="1400" b="0" i="0" dirty="0">
              <a:solidFill>
                <a:srgbClr val="B0B0C8"/>
              </a:solidFill>
              <a:latin typeface="Calibri"/>
            </a:endParaRPr>
          </a:p>
          <a:p>
            <a:r>
              <a:rPr lang="en-GB" sz="1400" dirty="0">
                <a:solidFill>
                  <a:srgbClr val="B0B0C8"/>
                </a:solidFill>
              </a:rPr>
              <a:t>PUT  /dept/:id/accept — Accept</a:t>
            </a:r>
          </a:p>
          <a:p>
            <a:r>
              <a:rPr lang="en-GB" sz="1400" dirty="0">
                <a:solidFill>
                  <a:srgbClr val="B0B0C8"/>
                </a:solidFill>
              </a:rPr>
              <a:t>PUT  /dept/:id/progress — In progress</a:t>
            </a:r>
          </a:p>
          <a:p>
            <a:r>
              <a:rPr lang="en-GB" sz="1400" dirty="0">
                <a:solidFill>
                  <a:srgbClr val="B0B0C8"/>
                </a:solidFill>
              </a:rPr>
              <a:t>PUT  /dept/:id/complete — Mark done</a:t>
            </a:r>
          </a:p>
          <a:p>
            <a:r>
              <a:rPr lang="en-US" sz="1400" dirty="0">
                <a:solidFill>
                  <a:srgbClr val="B0B0C8"/>
                </a:solidFill>
              </a:rPr>
              <a:t>GET  /notifications — My notifications</a:t>
            </a:r>
          </a:p>
          <a:p>
            <a:r>
              <a:rPr lang="en-GB" sz="1400" dirty="0">
                <a:solidFill>
                  <a:srgbClr val="B0B0C8"/>
                </a:solidFill>
              </a:rPr>
              <a:t>PUT  /notifications/read-all — Mark all read</a:t>
            </a:r>
          </a:p>
          <a:p>
            <a:r>
              <a:rPr lang="it-IT" sz="1400" dirty="0">
                <a:solidFill>
                  <a:srgbClr val="B0B0C8"/>
                </a:solidFill>
              </a:rPr>
              <a:t>POST /ai/classify — AI classify</a:t>
            </a:r>
          </a:p>
          <a:p>
            <a:r>
              <a:rPr lang="it-IT" sz="1400" dirty="0">
                <a:solidFill>
                  <a:srgbClr val="B0B0C8"/>
                </a:solidFill>
              </a:rPr>
              <a:t>POST /ai/chatbot — AI chatbot</a:t>
            </a:r>
          </a:p>
          <a:p>
            <a:pPr algn="l"/>
            <a:endParaRPr sz="1400" b="0" i="0" dirty="0">
              <a:solidFill>
                <a:srgbClr val="B0B0C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23  /  ADVANCED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Real-Time Notifications  &amp;  SLA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0352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⚡  Real-Time Notifications (Socket.io)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Socket.io creates a persistent WebSocket connection between browser and server.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505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When admin assigns a complaint → department gets instant notification.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When department updates status → citizen gets instant notification.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4553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B0B0C8"/>
                </a:solidFill>
                <a:latin typeface="Calibri"/>
              </a:rPr>
              <a:t>Notification bell icon shows unread count (live updated).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930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B0B0C8"/>
                </a:solidFill>
                <a:latin typeface="Calibri"/>
              </a:rPr>
              <a:t>No page refresh needed — updates appear automatically.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1879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78BFA"/>
                </a:solidFill>
                <a:latin typeface="Calibri"/>
              </a:rPr>
              <a:t>How it works: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354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1. User logs in → browser connects to Socket.io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828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2. User joins their personal 'room' (based on user ID)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303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3. Server emits 'notification' event to the specific room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778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4. Browser receives event and updates UI instantly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253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5. Notification is also saved in MongoDB for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417320"/>
            <a:ext cx="571500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1417320"/>
            <a:ext cx="571500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15087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"/>
              </a:rPr>
              <a:t>⏰  SLA Monitoring (node-cron)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103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SLA = Service Level Agreement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423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A maximum time limit to resolve each complaint: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743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B0B0C8"/>
                </a:solidFill>
                <a:latin typeface="Calibri"/>
              </a:rPr>
              <a:t>  • High Priority → 3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B0B0C8"/>
                </a:solidFill>
                <a:latin typeface="Calibri"/>
              </a:rPr>
              <a:t>  • Medium Priority → 7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83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  • Low Priority → 14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703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4023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The SLA deadline is set when a complaint is submitted.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343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4663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78BFA"/>
                </a:solidFill>
                <a:latin typeface="Calibri"/>
              </a:rPr>
              <a:t>node-cron runs a job EVERY HOUR automatically: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983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  1. Find all unresolved complaints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303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  2. Check if today &gt; slaDeadline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623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  3. If yes → mark complaint as 'SLA Breached'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943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  4. Admin sees breach count on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6263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60" y="6583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This ensures departments are held accountable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6903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for resolving complaints on time.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24  /  CHALLENGES &amp;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Challenges Faced &amp; What I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56616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🔐  JWT Role-Based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39112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C8"/>
                </a:solidFill>
                <a:latin typeface="Calibri"/>
              </a:rPr>
              <a:t>Setting up different access levels for Citizen, Admin, and Department was complex. Learned to use middleware functions (protect, authorize) to guard each route.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417320"/>
            <a:ext cx="356616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15270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🤖  AI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39112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C8"/>
                </a:solidFill>
                <a:latin typeface="Calibri"/>
              </a:rPr>
              <a:t>Integrating Google Gemini API required understanding prompt engineering. Had to handle cases where AI key is missing — built a fallback mock response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417320"/>
            <a:ext cx="356616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15270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⚡  Real-Time with Socket.io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39112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C8"/>
                </a:solidFill>
                <a:latin typeface="Calibri"/>
              </a:rPr>
              <a:t>Making notifications appear instantly without page refresh was challenging. Learned about WebSocket rooms and event-based communication.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74720"/>
            <a:ext cx="356616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584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📁  File Upload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96512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C8"/>
                </a:solidFill>
                <a:latin typeface="Calibri"/>
              </a:rPr>
              <a:t>Handling image/video uploads involved Multer (local), then Cloudinary (cloud). Had to manage file size limits and handle upload errors gracefully.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474720"/>
            <a:ext cx="356616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3584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🗓️  SLA Cron Jobs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096512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C8"/>
                </a:solidFill>
                <a:latin typeface="Calibri"/>
              </a:rPr>
              <a:t>Running background tasks automatically every hour using node-cron. Had to ensure the cron job doesn't run multiple times simultaneously.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3474720"/>
            <a:ext cx="356616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3584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📱  Responsive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096512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C8"/>
                </a:solidFill>
                <a:latin typeface="Calibri"/>
              </a:rPr>
              <a:t>Building a UI that works on both desktop and mobile required careful CSS layout planning using flexbox and grid, along with framer-motion animations.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25  /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Summary &amp; 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3657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5029200" cy="4389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  <a:latin typeface="Calibri"/>
              </a:rPr>
              <a:t>✅  What Was Accomplished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Complete full-stack web application built from scratch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9806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Three role-based dashboards (Citizen, Admin, Department)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27248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AI-powered complaint classification using Google 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5643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Real-time notifications using Socket.io WebSockets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85616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Interactive Leaflet maps for location pinning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14800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B0B0C8"/>
                </a:solidFill>
                <a:latin typeface="Calibri"/>
              </a:rPr>
              <a:t>• Secure JWT authentication with email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4398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SLA monitoring with automated cron 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73168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File uploads via Multer + Cloudinary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023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Admin analytics dashboard with KPI 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431536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RESTful API with role-based access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760720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Responsive modern UI with dark theme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828800"/>
            <a:ext cx="5486400" cy="4389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"/>
              </a:rPr>
              <a:t>🚀  Future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Mobile app (React Native) for citizens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34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Advanced AI analytics — predict complaint hotspots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200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SMS notifications (via Twilio or SMS Gateway)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66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Multilingual support (Hindi, regional languages)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Public complaint heatmap visible to all citizens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97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Department performance rating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Integration with government portals (DigiLocker, etc.)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29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Offline mode support (PWA)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394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Voice-based complaint submission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760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0C8"/>
                </a:solidFill>
                <a:latin typeface="Calibri"/>
              </a:rPr>
              <a:t>• Automated department auto-assignment using AI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 err="1">
                <a:solidFill>
                  <a:srgbClr val="A78BFA"/>
                </a:solidFill>
                <a:latin typeface="Calibri"/>
              </a:rPr>
              <a:t>Resolvex</a:t>
            </a:r>
            <a:r>
              <a:rPr sz="2200" b="0" i="0" dirty="0">
                <a:solidFill>
                  <a:srgbClr val="A78BFA"/>
                </a:solidFill>
                <a:latin typeface="Calibri"/>
              </a:rPr>
              <a:t>  —  Civic Issues Resolved Intelligently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023360"/>
            <a:ext cx="48737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0C8"/>
                </a:solidFill>
                <a:latin typeface="Calibri"/>
              </a:rPr>
              <a:t>Presented by:  Amit Saini  |  MCA  |  Kurukshetra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41164"/>
            <a:ext cx="10360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B0B0C8"/>
                </a:solidFill>
                <a:latin typeface="Calibri"/>
              </a:rPr>
              <a:t>GitHub:</a:t>
            </a:r>
            <a:r>
              <a:rPr lang="en-GB" sz="1400" b="0" i="0" dirty="0">
                <a:solidFill>
                  <a:srgbClr val="B0B0C8"/>
                </a:solidFill>
                <a:latin typeface="Calibri"/>
              </a:rPr>
              <a:t> </a:t>
            </a:r>
            <a:r>
              <a:rPr lang="en-US" sz="1400" dirty="0">
                <a:solidFill>
                  <a:srgbClr val="B0B0C8"/>
                </a:solidFill>
              </a:rPr>
              <a:t>https://github.com/AHSAINI0405/Civic-Problem-Resolvex.git</a:t>
            </a:r>
          </a:p>
          <a:p>
            <a:pPr algn="ctr"/>
            <a:r>
              <a:rPr lang="en-US" sz="1400" dirty="0">
                <a:solidFill>
                  <a:srgbClr val="B0B0C8"/>
                </a:solidFill>
              </a:rPr>
              <a:t>Live Link: https://civic-problem-resolvex.vercel.app/</a:t>
            </a:r>
            <a:endParaRPr sz="1400" b="0" i="0" dirty="0">
              <a:solidFill>
                <a:srgbClr val="B0B0C8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9975</Words>
  <Application>Microsoft Office PowerPoint</Application>
  <PresentationFormat>Custom</PresentationFormat>
  <Paragraphs>1150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 SAINI</cp:lastModifiedBy>
  <cp:revision>4</cp:revision>
  <dcterms:created xsi:type="dcterms:W3CDTF">2013-01-27T09:14:16Z</dcterms:created>
  <dcterms:modified xsi:type="dcterms:W3CDTF">2026-06-22T16:15:47Z</dcterms:modified>
  <cp:category/>
</cp:coreProperties>
</file>